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Open Sans Bold"/>
      <p:regular r:id="rId201314"/>
    </p:embeddedFont>
    <p:embeddedFont>
      <p:font typeface="Open Sans"/>
      <p:regular r:id="rId201315"/>
    </p:embeddedFont>
    <p:embeddedFont>
      <p:font typeface="Open Sans SemiBold"/>
      <p:regular r:id="rId201316"/>
    </p:embeddedFont>
    <p:embeddedFont>
      <p:font typeface="Playfair Display"/>
      <p:regular r:id="rId201317"/>
    </p:embeddedFont>
    <p:embeddedFont>
      <p:font typeface="Playfair Display SemiBold"/>
      <p:regular r:id="rId201318"/>
    </p:embeddedFont>
    <p:embeddedFont>
      <p:font typeface="Playfair Display Bold"/>
      <p:regular r:id="rId201319"/>
    </p:embeddedFont>
    <p:embeddedFont>
      <p:font typeface="Playfair Display Black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1.png"/><Relationship Id="rId8" Type="http://schemas.openxmlformats.org/officeDocument/2006/relationships/image" Target="../media/image-3-2.svg"/><Relationship Id="rId9" Type="http://schemas.openxmlformats.org/officeDocument/2006/relationships/image" Target="../media/image-3-1.png"/><Relationship Id="rId10" Type="http://schemas.openxmlformats.org/officeDocument/2006/relationships/image" Target="../media/image-3-2.svg"/><Relationship Id="rId11" Type="http://schemas.openxmlformats.org/officeDocument/2006/relationships/image" Target="../media/image-3-1.png"/><Relationship Id="rId12" Type="http://schemas.openxmlformats.org/officeDocument/2006/relationships/image" Target="../media/image-3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1.png"/><Relationship Id="rId8" Type="http://schemas.openxmlformats.org/officeDocument/2006/relationships/image" Target="../media/image-8-2.svg"/><Relationship Id="rId9" Type="http://schemas.openxmlformats.org/officeDocument/2006/relationships/image" Target="../media/image-8-1.png"/><Relationship Id="rId10" Type="http://schemas.openxmlformats.org/officeDocument/2006/relationships/image" Target="../media/image-8-2.svg"/><Relationship Id="rId11" Type="http://schemas.openxmlformats.org/officeDocument/2006/relationships/image" Target="../media/image-8-1.png"/><Relationship Id="rId12" Type="http://schemas.openxmlformats.org/officeDocument/2006/relationships/image" Target="../media/image-8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1.png"/><Relationship Id="rId4" Type="http://schemas.openxmlformats.org/officeDocument/2006/relationships/image" Target="../media/image-10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0219"/>
            <a:ext cx="10868745" cy="492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SIH26178 | AI-Powered Environmental Intelligence Network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273274"/>
            <a:ext cx="11478330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66C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Distributed Edge Intelligence for Local, Real-Time Environmental Risk Detection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7971" y="1688505"/>
            <a:ext cx="3556010" cy="1174353"/>
          </a:xfrm>
          <a:prstGeom prst="roundRect">
            <a:avLst>
              <a:gd name="adj" fmla="val 2014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705527" y="1838722"/>
            <a:ext cx="3240899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Organization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05527" y="2235200"/>
            <a:ext cx="3240899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Qualcomm Inc. | Category: Hardware | Theme: Disaster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1390" y="1838722"/>
            <a:ext cx="3329003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MVP Scenario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381390" y="2235200"/>
            <a:ext cx="3329003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Forest-fire early indication — edge-first, offline-capable, multi-node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01306" y="1838722"/>
            <a:ext cx="3441515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Architecture Pipeline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101306" y="2235200"/>
            <a:ext cx="3441515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ESP32 Nodes → Wireless Mesh → Raspberry Pi Gateway → Edge AI → GIS / Alert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1475" y="3031827"/>
            <a:ext cx="5359266" cy="1143992"/>
          </a:xfrm>
          <a:prstGeom prst="roundRect">
            <a:avLst>
              <a:gd name="adj" fmla="val 2067"/>
            </a:avLst>
          </a:prstGeom>
          <a:solidFill>
            <a:srgbClr val="E0E0EC"/>
          </a:solidFill>
          <a:ln/>
        </p:spPr>
      </p:sp>
      <p:sp>
        <p:nvSpPr>
          <p:cNvPr id="12" name="Text 10"/>
          <p:cNvSpPr/>
          <p:nvPr/>
        </p:nvSpPr>
        <p:spPr>
          <a:xfrm>
            <a:off x="819030" y="3189387"/>
            <a:ext cx="5044155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Distributed Sensing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19030" y="3525738"/>
            <a:ext cx="5044155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ESP32-C3/WROOM nodes with modular sensor interfaces deployed across the monitored environment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0954" y="3031827"/>
            <a:ext cx="5359266" cy="1143992"/>
          </a:xfrm>
          <a:prstGeom prst="roundRect">
            <a:avLst>
              <a:gd name="adj" fmla="val 2067"/>
            </a:avLst>
          </a:prstGeom>
          <a:solidFill>
            <a:srgbClr val="E0E0EC"/>
          </a:solidFill>
          <a:ln/>
        </p:spPr>
      </p:sp>
      <p:sp>
        <p:nvSpPr>
          <p:cNvPr id="15" name="Text 13"/>
          <p:cNvSpPr/>
          <p:nvPr/>
        </p:nvSpPr>
        <p:spPr>
          <a:xfrm>
            <a:off x="6328510" y="3189387"/>
            <a:ext cx="5044155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Wireless Mesh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328510" y="3525738"/>
            <a:ext cx="5044155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LoRa / Zigbee / Wi-Fi mesh with MQTT telemetry — reliable multi-hop packet delivery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1475" y="4326037"/>
            <a:ext cx="5359266" cy="1143992"/>
          </a:xfrm>
          <a:prstGeom prst="roundRect">
            <a:avLst>
              <a:gd name="adj" fmla="val 2067"/>
            </a:avLst>
          </a:prstGeom>
          <a:solidFill>
            <a:srgbClr val="E0E0EC"/>
          </a:solidFill>
          <a:ln/>
        </p:spPr>
      </p:sp>
      <p:sp>
        <p:nvSpPr>
          <p:cNvPr id="18" name="Text 16"/>
          <p:cNvSpPr/>
          <p:nvPr/>
        </p:nvSpPr>
        <p:spPr>
          <a:xfrm>
            <a:off x="819030" y="4483596"/>
            <a:ext cx="5044155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Edge AI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19030" y="4819948"/>
            <a:ext cx="5044155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TFLite Micro on-node inference plus scikit-learn Bayesian fusion on Raspberry Pi 4B gateway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0954" y="4326037"/>
            <a:ext cx="5359266" cy="1143992"/>
          </a:xfrm>
          <a:prstGeom prst="roundRect">
            <a:avLst>
              <a:gd name="adj" fmla="val 2067"/>
            </a:avLst>
          </a:prstGeom>
          <a:solidFill>
            <a:srgbClr val="E0E0EC"/>
          </a:solidFill>
          <a:ln/>
        </p:spPr>
      </p:sp>
      <p:sp>
        <p:nvSpPr>
          <p:cNvPr id="21" name="Text 19"/>
          <p:cNvSpPr/>
          <p:nvPr/>
        </p:nvSpPr>
        <p:spPr>
          <a:xfrm>
            <a:off x="6328510" y="4483596"/>
            <a:ext cx="5044155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Alert Integration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328510" y="4819948"/>
            <a:ext cx="5044155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SACHET / CAP protocol target — disaster-management authority API integration roadmap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1475" y="5638998"/>
            <a:ext cx="10868745" cy="73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distributed cyber-physical sensing network designed for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continuous local environmental monitoring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autonomous edge processing, and resilient operation during connectivity loss. Complements — does not replace — IMD/ISRO centralized monitoring by providing village/ward-level ground truth between centralized observation cycles.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834"/>
            <a:ext cx="10868745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From Centralized Monitoring to Local Ground Truth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61475" y="1130399"/>
            <a:ext cx="641026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66C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Engineering Gap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386185"/>
            <a:ext cx="641026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Existing centralized systems provide periodic or sparse observations at regional scale. Local hazards — forest fires, flash floods, air-quality spikes — require </a:t>
            </a:r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minutes-level detection with autonomous decision-making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at the point of occurrence. The gap between centralized monitoring cycles is precisely when early-stage hazards escalate unchecked.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273644" y="1052314"/>
            <a:ext cx="4344680" cy="864691"/>
          </a:xfrm>
          <a:prstGeom prst="roundRect">
            <a:avLst>
              <a:gd name="adj" fmla="val 1972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7387346" y="1130399"/>
            <a:ext cx="4117277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Core Requirement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87346" y="1386185"/>
            <a:ext cx="4117277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</a:t>
            </a:r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village/ward-level environmental intelligence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between centralized monitoring cycles — continuously, autonomously, and without cloud dependency.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004913"/>
          <a:ext cx="9143771" cy="914400"/>
        </p:xfrm>
        <a:graphic>
          <a:graphicData uri="http://schemas.openxmlformats.org/drawingml/2006/table">
            <a:tbl>
              <a:tblPr/>
              <a:tblGrid>
                <a:gridCol w="3622915"/>
                <a:gridCol w="3622915"/>
                <a:gridCol w="3622915"/>
              </a:tblGrid>
              <a:tr h="2630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Requirement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Conventional Approach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Proposed Distributed Network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266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Local ground truth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Sparse, point observations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Dense, continuous multi-node sensing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266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Detection latency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Hours to days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66C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Minutes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266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Processing location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Centralized cloud / HPC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66C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Edge-first, on-device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266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Connectivity dependency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Critical — failure = blackout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66C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Offline-capable, local buffering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266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Deployment cost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 — specialized infrastructure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Low-cost distributed nodes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266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Hazard coverage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Specialized per-system silos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Common architecture — fire, flood, air, seismic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2630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Alert integration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Separate standalone systems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SACHET/CAP protocol target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</a:tbl>
          </a:graphicData>
        </a:graphic>
      </p:graphicFrame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4228802"/>
            <a:ext cx="5434373" cy="4548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5177" y="4761706"/>
            <a:ext cx="5206969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Satellite / Centralized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75177" y="4986238"/>
            <a:ext cx="520696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Periodic or sparse regional observations</a:t>
            </a:r>
            <a:endParaRPr lang="en-US" sz="8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4228802"/>
            <a:ext cx="5434373" cy="4548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09549" y="4761706"/>
            <a:ext cx="5206969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Delayed Local Awareness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6209549" y="4986238"/>
            <a:ext cx="520696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Hours-to-days latency; centralized processing; no offline capability</a:t>
            </a:r>
            <a:endParaRPr lang="en-US" sz="8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5253434"/>
            <a:ext cx="5434373" cy="45481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75177" y="5786338"/>
            <a:ext cx="5206969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Gap: Local Hazard Window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775177" y="6010870"/>
            <a:ext cx="520696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Early-stage events escalate between monitoring cycles — undetected at ground level</a:t>
            </a:r>
            <a:endParaRPr lang="en-US" sz="8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5253434"/>
            <a:ext cx="5434373" cy="45481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09549" y="5786338"/>
            <a:ext cx="5206969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Proposed: Dense Local Layer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6209549" y="6010870"/>
            <a:ext cx="520696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Continuous sensing, edge AI, minutes-level detection, autonomous operation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188"/>
            <a:ext cx="10868745" cy="379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End-to-End System Architecture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61475" y="1080095"/>
            <a:ext cx="11478330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Layered architecture from field sensors to disaster-management integration.</a:t>
            </a:r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Each layer is independently operational; failure of any upper layer does not silence lower-layer intelligence.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348879"/>
            <a:ext cx="5389725" cy="11805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65207" y="1429841"/>
            <a:ext cx="182161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95615" y="1815108"/>
            <a:ext cx="5121445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Field Sensor Nodes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95615" y="2058293"/>
            <a:ext cx="5121445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ESP32-C3 / ESP32-WROOM</a:t>
            </a:r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smoke, temp, humidity (fire MVP); PM2.5/PM10, gas (air); water level, soil moisture (flood); vibration, pressure (seismic)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0396" y="1348879"/>
            <a:ext cx="5389825" cy="11805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44227" y="1429841"/>
            <a:ext cx="182161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274536" y="1815108"/>
            <a:ext cx="5121544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Local Processing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274536" y="2058293"/>
            <a:ext cx="5121544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Sensor sampling &amp; noise filtering; feature extraction (mean, variance, rate-of-change); local anomaly detection; node health monitoring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618581"/>
            <a:ext cx="5389725" cy="118050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65207" y="2699544"/>
            <a:ext cx="182161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95615" y="3084810"/>
            <a:ext cx="5121445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Wireless Mesh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795615" y="3327995"/>
            <a:ext cx="5121445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LoRa / Zigbee / Wi-Fi mesh topology; MQTT telemetry; node identity, packet sequencing, CRC checksums; retry logic &amp; local buffering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40396" y="2618581"/>
            <a:ext cx="5389825" cy="118050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44227" y="2699544"/>
            <a:ext cx="182161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274536" y="3084810"/>
            <a:ext cx="5121544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Edge Gateway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6274536" y="3327995"/>
            <a:ext cx="5121544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Raspberry Pi 4B (8GB)</a:t>
            </a:r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Mosquitto MQTT broker; data aggregation &amp; multi-sensor fusion; TFLite Micro / scikit-learn inference; SQLite offline store</a:t>
            </a:r>
            <a:endParaRPr lang="en-US" sz="9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3888284"/>
            <a:ext cx="5389725" cy="118050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265207" y="3969246"/>
            <a:ext cx="182161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795615" y="4354513"/>
            <a:ext cx="5121445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Application Layer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795615" y="4597698"/>
            <a:ext cx="5121445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FastAPI backend; GIS dashboard with risk heatmaps; event history &amp; alert management; OLED status &amp; NeoPixel indicators</a:t>
            </a:r>
            <a:endParaRPr lang="en-US" sz="9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40396" y="3888284"/>
            <a:ext cx="5389825" cy="118050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744227" y="3969246"/>
            <a:ext cx="182161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6274536" y="4354513"/>
            <a:ext cx="5121544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External Integration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6274536" y="4597698"/>
            <a:ext cx="5121544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SACHET/CAP alert protocol (architectural target); disaster-management authority APIs; buffered synchronization on connectivity restore</a:t>
            </a:r>
            <a:endParaRPr lang="en-US" sz="950" dirty="0"/>
          </a:p>
        </p:txBody>
      </p:sp>
      <p:sp>
        <p:nvSpPr>
          <p:cNvPr id="28" name="Text 20"/>
          <p:cNvSpPr/>
          <p:nvPr/>
        </p:nvSpPr>
        <p:spPr>
          <a:xfrm>
            <a:off x="661475" y="5258296"/>
            <a:ext cx="528624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Design Invariants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661475" y="5537200"/>
            <a:ext cx="5286243" cy="767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layer can operate autonomously if upper layers fail</a:t>
            </a:r>
            <a:endParaRPr lang="en-US" sz="950" dirty="0"/>
          </a:p>
          <a:p>
            <a:pPr algn="l" marL="193040" indent="-193040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raw sensor stream needs to leave the edge network</a:t>
            </a:r>
            <a:endParaRPr lang="en-US" sz="950" dirty="0"/>
          </a:p>
          <a:p>
            <a:pPr algn="l" marL="193040" indent="-193040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compressed intelligence and alerts propagate upward</a:t>
            </a:r>
            <a:endParaRPr lang="en-US" sz="950" dirty="0"/>
          </a:p>
          <a:p>
            <a:pPr algn="l" marL="193040" indent="-193040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inter-layer communication is authenticated and sequenced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6162918" y="5169098"/>
            <a:ext cx="5461062" cy="1166614"/>
          </a:xfrm>
          <a:prstGeom prst="roundRect">
            <a:avLst>
              <a:gd name="adj" fmla="val 1562"/>
            </a:avLst>
          </a:prstGeom>
          <a:solidFill>
            <a:srgbClr val="1A1A1A"/>
          </a:solidFill>
          <a:ln/>
        </p:spPr>
      </p:sp>
      <p:sp>
        <p:nvSpPr>
          <p:cNvPr id="31" name="Text 23"/>
          <p:cNvSpPr/>
          <p:nvPr/>
        </p:nvSpPr>
        <p:spPr>
          <a:xfrm>
            <a:off x="6284358" y="5258296"/>
            <a:ext cx="5218180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Extensibility by Sensor Configuration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6284358" y="5537200"/>
            <a:ext cx="5218180" cy="767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6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Fire MVP:</a:t>
            </a:r>
            <a:pPr algn="l" marL="193040" indent="-193040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Smoke + temp + humidity nodes</a:t>
            </a:r>
            <a:endParaRPr lang="en-US" sz="950" dirty="0"/>
          </a:p>
          <a:p>
            <a:pPr algn="l" marL="193040" indent="-193040">
              <a:lnSpc>
                <a:spcPct val="116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Flood:</a:t>
            </a:r>
            <a:pPr algn="l" marL="193040" indent="-193040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Water level + soil moisture + rain</a:t>
            </a:r>
            <a:endParaRPr lang="en-US" sz="950" dirty="0"/>
          </a:p>
          <a:p>
            <a:pPr algn="l" marL="193040" indent="-193040">
              <a:lnSpc>
                <a:spcPct val="116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Air Quality:</a:t>
            </a:r>
            <a:pPr algn="l" marL="193040" indent="-193040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PM2.5/PM10 + gas + temp</a:t>
            </a:r>
            <a:endParaRPr lang="en-US" sz="950" dirty="0"/>
          </a:p>
          <a:p>
            <a:pPr algn="l" marL="193040" indent="-193040">
              <a:lnSpc>
                <a:spcPct val="116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Landslide:</a:t>
            </a:r>
            <a:pPr algn="l" marL="193040" indent="-193040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Vibration + soil moisture + pressure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3195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ULTRON Hardware → Environmental Intelligence Platform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056878"/>
            <a:ext cx="1147833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Repurposing existing ULTRON infrastructure as the physical foundation of the distributed network.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 new hardware procurement required for the prototype stage.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335088"/>
          <a:ext cx="9143771" cy="914400"/>
        </p:xfrm>
        <a:graphic>
          <a:graphicData uri="http://schemas.openxmlformats.org/drawingml/2006/table">
            <a:tbl>
              <a:tblPr/>
              <a:tblGrid>
                <a:gridCol w="3622915"/>
                <a:gridCol w="3622915"/>
                <a:gridCol w="3622915"/>
              </a:tblGrid>
              <a:tr h="3010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Hardware Component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Environmental Network Role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Functional Assignment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77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Raspberry Pi 4B 8GB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Edge Brain — Central Intelligence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MQTT broker, AI inference, data fusion, persistence, GIS backend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477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Raspberry Pi 3A+ / 3B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Local Compute Nodes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Distributed processing, mesh relay, redundancy, local buffering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477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ESP32-C3 / ESP32-WROOM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Field Interface — Sensor Nodes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Sensor acquisition, local filtering, TFLite Micro inference, mesh TX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304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Ethernet Switch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Local Backbone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Wired intra-cluster connectivity, gateway uplink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304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Wi-Fi Adapters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Wireless Mesh &amp; Uplink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Wireless mesh participation, external WAN uplink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304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500 GB SSD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Persistent Storage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Offline data store, model cache, event history, sync buffer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477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OLED Display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Local Status Indicator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Network health, alert level, node count, last event timestamp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477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NeoPixel RGB LEDs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Visual Anomaly Indicator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 = nominal / YELLOW = caution / RED = hazard active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4746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GPIO Tripwire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Physical Event Trigger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Hardware event injection for validation and demonstration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1475" y="5529858"/>
            <a:ext cx="2647388" cy="844848"/>
          </a:xfrm>
          <a:prstGeom prst="roundRect">
            <a:avLst>
              <a:gd name="adj" fmla="val 2202"/>
            </a:avLst>
          </a:prstGeom>
          <a:solidFill>
            <a:srgbClr val="E0E0EC"/>
          </a:solidFill>
          <a:ln/>
        </p:spPr>
      </p:sp>
      <p:sp>
        <p:nvSpPr>
          <p:cNvPr id="6" name="Text 3"/>
          <p:cNvSpPr/>
          <p:nvPr/>
        </p:nvSpPr>
        <p:spPr>
          <a:xfrm>
            <a:off x="785495" y="5653881"/>
            <a:ext cx="239934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Pi 4 = Edge Brain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5495" y="5903416"/>
            <a:ext cx="2399347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Central intelligence, fusion engine, inference runtime, persistent store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401828" y="5529858"/>
            <a:ext cx="2647487" cy="844848"/>
          </a:xfrm>
          <a:prstGeom prst="roundRect">
            <a:avLst>
              <a:gd name="adj" fmla="val 2202"/>
            </a:avLst>
          </a:prstGeom>
          <a:solidFill>
            <a:srgbClr val="E0E0EC"/>
          </a:solidFill>
          <a:ln/>
        </p:spPr>
      </p:sp>
      <p:sp>
        <p:nvSpPr>
          <p:cNvPr id="9" name="Text 6"/>
          <p:cNvSpPr/>
          <p:nvPr/>
        </p:nvSpPr>
        <p:spPr>
          <a:xfrm>
            <a:off x="3525849" y="5653881"/>
            <a:ext cx="239944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Pi 3s = Compute Nodes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525849" y="5903416"/>
            <a:ext cx="2399446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Distributed processing, mesh relay, local decision redundancy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42281" y="5529858"/>
            <a:ext cx="2647487" cy="844848"/>
          </a:xfrm>
          <a:prstGeom prst="roundRect">
            <a:avLst>
              <a:gd name="adj" fmla="val 2202"/>
            </a:avLst>
          </a:prstGeom>
          <a:solidFill>
            <a:srgbClr val="E0E0EC"/>
          </a:solidFill>
          <a:ln/>
        </p:spPr>
      </p:sp>
      <p:sp>
        <p:nvSpPr>
          <p:cNvPr id="12" name="Text 9"/>
          <p:cNvSpPr/>
          <p:nvPr/>
        </p:nvSpPr>
        <p:spPr>
          <a:xfrm>
            <a:off x="6266301" y="5653881"/>
            <a:ext cx="239944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ESP32 = Field Interface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66301" y="5903416"/>
            <a:ext cx="2399446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Sensor acquisition, noise filtering, first-stage anomaly detection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882733" y="5529858"/>
            <a:ext cx="2647487" cy="844848"/>
          </a:xfrm>
          <a:prstGeom prst="roundRect">
            <a:avLst>
              <a:gd name="adj" fmla="val 2202"/>
            </a:avLst>
          </a:prstGeom>
          <a:solidFill>
            <a:srgbClr val="E0E0EC"/>
          </a:solidFill>
          <a:ln/>
        </p:spPr>
      </p:sp>
      <p:sp>
        <p:nvSpPr>
          <p:cNvPr id="15" name="Text 12"/>
          <p:cNvSpPr/>
          <p:nvPr/>
        </p:nvSpPr>
        <p:spPr>
          <a:xfrm>
            <a:off x="9006754" y="5653881"/>
            <a:ext cx="239944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Network = Nervous System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006754" y="5903416"/>
            <a:ext cx="2399446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Reliable, authenticated, low-latency inter-node communication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Inside One Environmental Sensor Node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795933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Node-level architecture: from raw sensor signal to mesh-transmitted intelligence.</a:t>
            </a:r>
            <a:endParaRPr lang="en-US" sz="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645" y="941487"/>
            <a:ext cx="9696406" cy="52986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26245" y="3424232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Sampling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199678" y="3389757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Feature Extraction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28174" y="3400796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Transmission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6327874"/>
            <a:ext cx="3451536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66C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Fire Detection Node — MVP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61475" y="6498332"/>
            <a:ext cx="3451536" cy="326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MQ-2 smoke sensor:</a:t>
            </a:r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Analog input, 0–1023 ADC range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DHT22 temperature:</a:t>
            </a:r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±0.5°C accuracy, 1–5 Hz sampling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DHT22 humidity:</a:t>
            </a:r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±2% RH, cross-sensitivity correction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4320968" y="6327874"/>
            <a:ext cx="3451536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Air Quality Node — Future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320968" y="6498332"/>
            <a:ext cx="3451536" cy="326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PMS5003 particulate:</a:t>
            </a:r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PM2.5/PM10 in µg/m³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MQ-135 gas:</a:t>
            </a:r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CO₂, NH₃, NOₓ proxy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DHT22:</a:t>
            </a:r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Temperature &amp; humidity context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7920931" y="6286599"/>
            <a:ext cx="3681320" cy="620713"/>
          </a:xfrm>
          <a:prstGeom prst="roundRect">
            <a:avLst>
              <a:gd name="adj" fmla="val 1998"/>
            </a:avLst>
          </a:prstGeom>
          <a:solidFill>
            <a:srgbClr val="1A1A1A"/>
          </a:solidFill>
          <a:ln/>
        </p:spPr>
      </p:sp>
      <p:sp>
        <p:nvSpPr>
          <p:cNvPr id="13" name="Text 10"/>
          <p:cNvSpPr/>
          <p:nvPr/>
        </p:nvSpPr>
        <p:spPr>
          <a:xfrm>
            <a:off x="8003578" y="6327874"/>
            <a:ext cx="3516026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Sampling &amp; Feature Parameters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003578" y="6498332"/>
            <a:ext cx="3516026" cy="371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6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Rate:</a:t>
            </a:r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1–10 Hz per sensor</a:t>
            </a:r>
            <a:endParaRPr lang="en-US" sz="650" dirty="0"/>
          </a:p>
          <a:p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6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Window:</a:t>
            </a:r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30–60 second rolling buffers</a:t>
            </a:r>
            <a:endParaRPr lang="en-US" sz="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Features: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Mean, variance, rate-of-change, peak detection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661475" y="6969323"/>
            <a:ext cx="1086874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66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Critical Design Principle: No Single Sensor Is Trusted Independently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61475" y="7160518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Inexpensive sensors suffer from drift, cross-sensitivity, and environmental interference. All classification decisions require multi-sensor agreement before confidence escalates.</a:t>
            </a:r>
            <a:endParaRPr lang="en-US" sz="6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7306072"/>
          <a:ext cx="9143771" cy="914400"/>
        </p:xfrm>
        <a:graphic>
          <a:graphicData uri="http://schemas.openxmlformats.org/drawingml/2006/table">
            <a:tbl>
              <a:tblPr/>
              <a:tblGrid>
                <a:gridCol w="3622915"/>
                <a:gridCol w="3622915"/>
                <a:gridCol w="3622915"/>
              </a:tblGrid>
              <a:tr h="164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Sensor Pattern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Interpretation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Confidence Level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167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Smoke ↑ + Temp ↑ + Humidity ↓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Strong fire signature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66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 — escalate immediately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167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Smoke ↑ + Temp normal + Humidity normal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Possible local false positive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 — flag for investigation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167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Smoke ↑ + Neighbor nodes agree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Spatial correlation confirms hazard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66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 — hazard confirmed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164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Single sensor spike, no corroboration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Sensor drift or environmental noise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LOW — log, do not alert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1088"/>
            <a:ext cx="10868745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Mesh Networking + MQTT Telemetry Pipeline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61475" y="1122660"/>
            <a:ext cx="11478330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Reliable, low-latency data transport from distributed nodes to edge gateway.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Protocol stack engineered for partial connectivity, packet loss, and offline-first operation.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1442145"/>
            <a:ext cx="5852966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Example Telemetry Packet (JSON over MQTT)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1475" y="1707753"/>
            <a:ext cx="5852966" cy="2046089"/>
          </a:xfrm>
          <a:prstGeom prst="roundRect">
            <a:avLst>
              <a:gd name="adj" fmla="val 834"/>
            </a:avLst>
          </a:prstGeom>
          <a:solidFill>
            <a:srgbClr val="E6E6EA"/>
          </a:solidFill>
          <a:ln/>
        </p:spPr>
      </p:sp>
      <p:sp>
        <p:nvSpPr>
          <p:cNvPr id="6" name="Text 4"/>
          <p:cNvSpPr/>
          <p:nvPr/>
        </p:nvSpPr>
        <p:spPr>
          <a:xfrm>
            <a:off x="797897" y="1821458"/>
            <a:ext cx="5580121" cy="181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"node_id":    "fire_node_A",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"timestamp":  "2026-02-15T14:32:45Z",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"sensor_type":"smoke",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"value":      0.42,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"unit":       "normalized",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0.95,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"alert_level":"GREEN",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"rssi":       -65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1475" y="3841750"/>
            <a:ext cx="5852966" cy="306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Identical packet schema used by both real sensors and the software simulator — validating the full pipeline regardless of transducer source.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798199" y="1442145"/>
            <a:ext cx="4738271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Transport Protocol Stack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98199" y="1707753"/>
          <a:ext cx="9143771" cy="914400"/>
        </p:xfrm>
        <a:graphic>
          <a:graphicData uri="http://schemas.openxmlformats.org/drawingml/2006/table">
            <a:tbl>
              <a:tblPr/>
              <a:tblGrid>
                <a:gridCol w="2369136"/>
                <a:gridCol w="2369136"/>
              </a:tblGrid>
              <a:tr h="2630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Layer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Technology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266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Physical / RF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LoRa / Zigbee / Wi-Fi 802.11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266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Network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Mesh topology, multi-hop routing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266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Transport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TCP / UDP with TLS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266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Messaging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MQTT v3.1.1 (Mosquitto broker)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266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Payload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JSON + CRC32 checksum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2630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QoS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QoS 1 (at-least-once) for alerts</a:t>
                      </a:r>
                      <a:endParaRPr lang="en-US" sz="8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3707" marR="113707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61475" y="4306987"/>
            <a:ext cx="2658599" cy="784324"/>
          </a:xfrm>
          <a:prstGeom prst="roundRect">
            <a:avLst>
              <a:gd name="adj" fmla="val 2175"/>
            </a:avLst>
          </a:prstGeom>
          <a:solidFill>
            <a:srgbClr val="F3F3F7"/>
          </a:solidFill>
          <a:ln w="12700">
            <a:solidFill>
              <a:srgbClr val="C6C6D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7876" y="4433391"/>
            <a:ext cx="2405796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Node Identity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87876" y="4657923"/>
            <a:ext cx="2405796" cy="306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Unique MAC-based ID per ESP32 — prevents spoofing and enables per-node fault tracking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98157" y="4306987"/>
            <a:ext cx="2658599" cy="784324"/>
          </a:xfrm>
          <a:prstGeom prst="roundRect">
            <a:avLst>
              <a:gd name="adj" fmla="val 2175"/>
            </a:avLst>
          </a:prstGeom>
          <a:solidFill>
            <a:srgbClr val="F3F3F7"/>
          </a:solidFill>
          <a:ln w="12700">
            <a:solidFill>
              <a:srgbClr val="C6C6D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24559" y="4433391"/>
            <a:ext cx="2405796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Sequence Numbers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524559" y="4657923"/>
            <a:ext cx="2405796" cy="306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Monotonic packet counter — detects loss, reordering, and replay across mesh hops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134839" y="4306987"/>
            <a:ext cx="2658599" cy="784324"/>
          </a:xfrm>
          <a:prstGeom prst="roundRect">
            <a:avLst>
              <a:gd name="adj" fmla="val 2175"/>
            </a:avLst>
          </a:prstGeom>
          <a:solidFill>
            <a:srgbClr val="F3F3F7"/>
          </a:solidFill>
          <a:ln w="12700">
            <a:solidFill>
              <a:srgbClr val="C6C6D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61241" y="4433391"/>
            <a:ext cx="2405796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CRC32 Checksums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61241" y="4657923"/>
            <a:ext cx="2405796" cy="306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Payload integrity verification at both node and gateway — corrupted packets discarded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871522" y="4306987"/>
            <a:ext cx="2658698" cy="784324"/>
          </a:xfrm>
          <a:prstGeom prst="roundRect">
            <a:avLst>
              <a:gd name="adj" fmla="val 2175"/>
            </a:avLst>
          </a:prstGeom>
          <a:solidFill>
            <a:srgbClr val="F3F3F7"/>
          </a:solidFill>
          <a:ln w="12700">
            <a:solidFill>
              <a:srgbClr val="C6C6D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97923" y="4433391"/>
            <a:ext cx="2405895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Exponential Backoff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997923" y="4657923"/>
            <a:ext cx="2405895" cy="306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Publish retry with backoff on failure — prevents storm conditions on mesh recovery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61475" y="5169396"/>
            <a:ext cx="5395281" cy="630833"/>
          </a:xfrm>
          <a:prstGeom prst="roundRect">
            <a:avLst>
              <a:gd name="adj" fmla="val 2704"/>
            </a:avLst>
          </a:prstGeom>
          <a:solidFill>
            <a:srgbClr val="F3F3F7"/>
          </a:solidFill>
          <a:ln w="12700">
            <a:solidFill>
              <a:srgbClr val="C6C6D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7876" y="5295801"/>
            <a:ext cx="5142478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Local Ring Buffer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87876" y="5520333"/>
            <a:ext cx="5142478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ESP32 stores telemetry during mesh outage — replays on gateway reconnect, zero data loss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134839" y="5169396"/>
            <a:ext cx="5395381" cy="630833"/>
          </a:xfrm>
          <a:prstGeom prst="roundRect">
            <a:avLst>
              <a:gd name="adj" fmla="val 2704"/>
            </a:avLst>
          </a:prstGeom>
          <a:solidFill>
            <a:srgbClr val="F3F3F7"/>
          </a:solidFill>
          <a:ln w="12700">
            <a:solidFill>
              <a:srgbClr val="C6C6D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61241" y="5295801"/>
            <a:ext cx="5142578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Edge-Local Processing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261241" y="5520333"/>
            <a:ext cx="5142578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alerts and summarized intelligence leave the edge. Raw sensor streams remain local.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61475" y="5888137"/>
            <a:ext cx="10868745" cy="358676"/>
          </a:xfrm>
          <a:prstGeom prst="roundRect">
            <a:avLst>
              <a:gd name="adj" fmla="val 4755"/>
            </a:avLst>
          </a:prstGeom>
          <a:solidFill>
            <a:srgbClr val="E3E3E8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177" y="5996682"/>
            <a:ext cx="142078" cy="113705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030956" y="5994598"/>
            <a:ext cx="10995147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Design Principle: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Only critical alerts and summarized intelligence need to leave the edge. Raw sensor streams remain local — reducing bandwidth, latency, and external dependency.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1169"/>
            <a:ext cx="10868745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Edge AI + Multi-Sensor Fusion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61475" y="913408"/>
            <a:ext cx="11478330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From raw sensor data to environmental risk assessment — entirely at the edge.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1184970"/>
            <a:ext cx="397371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Processing Pipeline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1475" y="1419027"/>
            <a:ext cx="20666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9393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61475" y="1581944"/>
            <a:ext cx="3973711" cy="1270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1658938"/>
            <a:ext cx="397371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Noise Filtering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1475" y="1884958"/>
            <a:ext cx="3973711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Kalman filter / moving average per sensor channel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61475" y="2161381"/>
            <a:ext cx="20666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9393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61475" y="2324298"/>
            <a:ext cx="3973711" cy="1270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1" name="Text 9"/>
          <p:cNvSpPr/>
          <p:nvPr/>
        </p:nvSpPr>
        <p:spPr>
          <a:xfrm>
            <a:off x="661475" y="2401292"/>
            <a:ext cx="397371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Feature Extraction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1475" y="2627313"/>
            <a:ext cx="3973711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Mean, variance, skewness, kurtosis, rate-of-change, peak (30–60s window)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61475" y="2903736"/>
            <a:ext cx="20666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9393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61475" y="3066653"/>
            <a:ext cx="3973711" cy="1270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3143647"/>
            <a:ext cx="397371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Sensor-Level Anomaly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1475" y="3369667"/>
            <a:ext cx="3973711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Isolation Forest / Z-score per individual sensor channel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61475" y="3646091"/>
            <a:ext cx="20666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9393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61475" y="3809008"/>
            <a:ext cx="3973711" cy="1270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3886002"/>
            <a:ext cx="397371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Multi-Sensor Fusion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1475" y="4112022"/>
            <a:ext cx="3973711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Weighted Bayesian fusion across smoke, temp, humidity, gas channels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61475" y="4388445"/>
            <a:ext cx="20666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9393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61475" y="4551363"/>
            <a:ext cx="3973711" cy="1270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23" name="Text 21"/>
          <p:cNvSpPr/>
          <p:nvPr/>
        </p:nvSpPr>
        <p:spPr>
          <a:xfrm>
            <a:off x="661475" y="4628356"/>
            <a:ext cx="397371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Spatial Correlation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1475" y="4854377"/>
            <a:ext cx="3973711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Multi-node consensus — kernel density estimation for hazard mapping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61475" y="5130800"/>
            <a:ext cx="20666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9393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61475" y="5293717"/>
            <a:ext cx="3973711" cy="1270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27" name="Text 25"/>
          <p:cNvSpPr/>
          <p:nvPr/>
        </p:nvSpPr>
        <p:spPr>
          <a:xfrm>
            <a:off x="661475" y="5370711"/>
            <a:ext cx="397371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Risk Score &amp; Alert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1475" y="5596731"/>
            <a:ext cx="3973711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Composite score → GREEN / YELLOW / RED classification &amp; routing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93743" y="1184970"/>
            <a:ext cx="6642728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Anomaly Detection Strategy by Confidence Level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3743" y="1419027"/>
          <a:ext cx="9143771" cy="914400"/>
        </p:xfrm>
        <a:graphic>
          <a:graphicData uri="http://schemas.openxmlformats.org/drawingml/2006/table">
            <a:tbl>
              <a:tblPr/>
              <a:tblGrid>
                <a:gridCol w="1660682"/>
                <a:gridCol w="1660682"/>
                <a:gridCol w="1660682"/>
                <a:gridCol w="1660682"/>
              </a:tblGrid>
              <a:tr h="2276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Detection Level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Method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Confidence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Action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2307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Single-node anomaly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Isolation Forest / Z-score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Low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Log, increase polling rate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3651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Multi-sensor agreement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Weighted Bayesian fusion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YELLOW alert, local notification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3619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Spatial correlation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Multi-node consensus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66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RED alert, CAP message generated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4893743" y="2689820"/>
            <a:ext cx="6642728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Feature Engineering Detail</a:t>
            </a:r>
            <a:endParaRPr lang="en-US" sz="10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3743" y="2923877"/>
          <a:ext cx="9143771" cy="914400"/>
        </p:xfrm>
        <a:graphic>
          <a:graphicData uri="http://schemas.openxmlformats.org/drawingml/2006/table">
            <a:tbl>
              <a:tblPr/>
              <a:tblGrid>
                <a:gridCol w="3321364"/>
                <a:gridCol w="3321364"/>
              </a:tblGrid>
              <a:tr h="2244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Feature Class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Features Computed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2244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Statistical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Mean, variance, skewness, kurtosis (30–60s rolling window)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E9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2244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Temporal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Rate of change, peak detection, trend direction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2244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Cross-sensor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Smoke + temperature correlation, humidity inverse relationship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E9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2244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Spatial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Neighbor-node agreement score, gradient field analysis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3" name="Text 29"/>
          <p:cNvSpPr/>
          <p:nvPr/>
        </p:nvSpPr>
        <p:spPr>
          <a:xfrm>
            <a:off x="4893743" y="4131370"/>
            <a:ext cx="6642728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AI Stack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4893743" y="4357390"/>
            <a:ext cx="6642728" cy="604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08000"/>
              </a:lnSpc>
              <a:buSzPct val="100000"/>
              <a:buChar char="•"/>
            </a:pPr>
            <a:r>
              <a:rPr lang="en-US" sz="8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TensorFlow Lite Micro:</a:t>
            </a:r>
            <a:pPr algn="l" marL="162560" indent="-162560">
              <a:lnSpc>
                <a:spcPct val="108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Lightweight neural networks on ESP32 (on-node, &lt;256KB RAM)</a:t>
            </a:r>
            <a:endParaRPr lang="en-US" sz="800" dirty="0"/>
          </a:p>
          <a:p>
            <a:pPr algn="l" marL="162560" indent="-162560">
              <a:lnSpc>
                <a:spcPct val="108000"/>
              </a:lnSpc>
              <a:buSzPct val="100000"/>
              <a:buChar char="•"/>
            </a:pPr>
            <a:r>
              <a:rPr lang="en-US" sz="8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scikit-learn:</a:t>
            </a:r>
            <a:pPr algn="l" marL="162560" indent="-162560">
              <a:lnSpc>
                <a:spcPct val="108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Isolation Forest, Gaussian Mixture Models on Raspberry Pi gateway</a:t>
            </a:r>
            <a:endParaRPr lang="en-US" sz="800" dirty="0"/>
          </a:p>
          <a:p>
            <a:pPr algn="l" marL="162560" indent="-162560">
              <a:lnSpc>
                <a:spcPct val="108000"/>
              </a:lnSpc>
              <a:buSzPct val="100000"/>
              <a:buChar char="•"/>
            </a:pPr>
            <a:r>
              <a:rPr lang="en-US" sz="8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Custom Bayesian fusion:</a:t>
            </a:r>
            <a:pPr algn="l" marL="162560" indent="-162560">
              <a:lnSpc>
                <a:spcPct val="108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Multi-sensor confidence weighting with configurable priors</a:t>
            </a:r>
            <a:endParaRPr lang="en-US" sz="800" dirty="0"/>
          </a:p>
          <a:p>
            <a:pPr algn="l" marL="162560" indent="-162560">
              <a:lnSpc>
                <a:spcPct val="108000"/>
              </a:lnSpc>
              <a:buSzPct val="100000"/>
              <a:buChar char="•"/>
            </a:pPr>
            <a:r>
              <a:rPr lang="en-US" sz="8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Spatial analysis:</a:t>
            </a:r>
            <a:pPr algn="l" marL="162560" indent="-162560">
              <a:lnSpc>
                <a:spcPct val="108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Kernel density estimation for hazard zone mapping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661475" y="5953820"/>
            <a:ext cx="10868745" cy="443012"/>
          </a:xfrm>
          <a:prstGeom prst="roundRect">
            <a:avLst>
              <a:gd name="adj" fmla="val 3500"/>
            </a:avLst>
          </a:prstGeom>
          <a:solidFill>
            <a:srgbClr val="E3E3E8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759" y="6049070"/>
            <a:ext cx="129180" cy="103287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997223" y="6044208"/>
            <a:ext cx="10429713" cy="26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Critical Framing:</a:t>
            </a:r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AI is used for anomaly detection and decision support — not magical disaster prediction. The system is transparent, auditable, and designed to fail safely. No alert is issued without multi-sensor corroboration.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4016"/>
            <a:ext cx="10868745" cy="306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Offline Operation, Fault Tolerance &amp; Security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967383"/>
            <a:ext cx="11478330" cy="125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Designed to fail gracefully: degraded operation is better than silent failure.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system defines explicit degradation states for every anticipated failure mode.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1180009"/>
            <a:ext cx="10868745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Fault Degradation State Matrix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420813"/>
          <a:ext cx="9143771" cy="914400"/>
        </p:xfrm>
        <a:graphic>
          <a:graphicData uri="http://schemas.openxmlformats.org/drawingml/2006/table">
            <a:tbl>
              <a:tblPr/>
              <a:tblGrid>
                <a:gridCol w="3622915"/>
                <a:gridCol w="3622915"/>
                <a:gridCol w="3622915"/>
              </a:tblGrid>
              <a:tr h="2109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Failure Mode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8201" marR="9820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System Response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8201" marR="98201" marT="6350" marB="635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Local Capability Retained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8201" marR="98201" marT="6350" marB="635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39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Single sensor failure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8201" marR="9820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Sensor marked offline; remaining sensors used; confidence reduced proportionally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8201" marR="9820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Partial — reduced confidence scoring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8201" marR="9820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2141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Single node failure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8201" marR="9820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Node marked offline; neighbor data used; network topology reconfigured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8201" marR="9820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Full — spatial coverage reduced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8201" marR="9820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2141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Mesh network partition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8201" marR="9820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Local buffering active; local AI inference continues; sync on reconnect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8201" marR="9820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Full — isolated cluster operation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8201" marR="9820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339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Gateway failure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8201" marR="9820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Nodes continue local operation; ring buffer active; full sync on gateway recovery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8201" marR="9820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Node-level only — no fusion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8201" marR="9820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339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SACHET/CAP unavailable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8201" marR="9820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Local alert remains active; OLED/NeoPixel indicates; retry queue maintained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8201" marR="9820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Full — local indication active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8201" marR="9820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2109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Complete network loss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8201" marR="9820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OLED + NeoPixel local indication; watchdog timer; autonomous local alert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8201" marR="9820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Local — hardware indication only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8201" marR="9820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61475" y="3425428"/>
            <a:ext cx="5314619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Security Architecture</a:t>
            </a:r>
            <a:endParaRPr lang="en-US" sz="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8775" y="3631704"/>
            <a:ext cx="5327318" cy="3622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4999" y="3644404"/>
            <a:ext cx="5191094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Node Identity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784999" y="3856038"/>
            <a:ext cx="5191094" cy="125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Unique cryptographic ID per ESP32 — MAC address + EEPROM provisioned secret</a:t>
            </a:r>
            <a:endParaRPr lang="en-US" sz="7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775" y="4085134"/>
            <a:ext cx="5327318" cy="3622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84999" y="4097834"/>
            <a:ext cx="5191094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Encrypted Transport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784999" y="4309467"/>
            <a:ext cx="5191094" cy="125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TLS-secured MQTT — all broker communication encrypted in transit</a:t>
            </a:r>
            <a:endParaRPr lang="en-US" sz="7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775" y="4538563"/>
            <a:ext cx="5327318" cy="3622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84999" y="4551263"/>
            <a:ext cx="5191094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Message Authentication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784999" y="4762897"/>
            <a:ext cx="5191094" cy="125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HMAC-SHA256 on all critical alert payloads — detects tampering</a:t>
            </a:r>
            <a:endParaRPr lang="en-US" sz="7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8775" y="4991993"/>
            <a:ext cx="5327318" cy="36224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84999" y="5004693"/>
            <a:ext cx="5191094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Replay Protection</a:t>
            </a:r>
            <a:endParaRPr lang="en-US" sz="950" dirty="0"/>
          </a:p>
        </p:txBody>
      </p:sp>
      <p:sp>
        <p:nvSpPr>
          <p:cNvPr id="18" name="Text 11"/>
          <p:cNvSpPr/>
          <p:nvPr/>
        </p:nvSpPr>
        <p:spPr>
          <a:xfrm>
            <a:off x="784999" y="5216327"/>
            <a:ext cx="5191094" cy="125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Sequence number validation — monotonic counter enforced at broker</a:t>
            </a:r>
            <a:endParaRPr lang="en-US" sz="7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8775" y="5445423"/>
            <a:ext cx="5327318" cy="36224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84999" y="5458123"/>
            <a:ext cx="5191094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Firmware Security</a:t>
            </a:r>
            <a:endParaRPr lang="en-US" sz="950" dirty="0"/>
          </a:p>
        </p:txBody>
      </p:sp>
      <p:sp>
        <p:nvSpPr>
          <p:cNvPr id="21" name="Text 13"/>
          <p:cNvSpPr/>
          <p:nvPr/>
        </p:nvSpPr>
        <p:spPr>
          <a:xfrm>
            <a:off x="784999" y="5669756"/>
            <a:ext cx="5191094" cy="125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Signed OTA updates with rollback protection — no unsigned code execution</a:t>
            </a:r>
            <a:endParaRPr lang="en-US" sz="7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8775" y="5898852"/>
            <a:ext cx="5327318" cy="36224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84999" y="5911552"/>
            <a:ext cx="5191094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Access Control</a:t>
            </a:r>
            <a:endParaRPr lang="en-US" sz="950" dirty="0"/>
          </a:p>
        </p:txBody>
      </p:sp>
      <p:sp>
        <p:nvSpPr>
          <p:cNvPr id="24" name="Text 15"/>
          <p:cNvSpPr/>
          <p:nvPr/>
        </p:nvSpPr>
        <p:spPr>
          <a:xfrm>
            <a:off x="784999" y="6123186"/>
            <a:ext cx="5191094" cy="125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MQTT ACLs per node type — sensors cannot subscribe to alert channels</a:t>
            </a:r>
            <a:endParaRPr lang="en-US" sz="750" dirty="0"/>
          </a:p>
        </p:txBody>
      </p:sp>
      <p:sp>
        <p:nvSpPr>
          <p:cNvPr id="25" name="Shape 16"/>
          <p:cNvSpPr/>
          <p:nvPr/>
        </p:nvSpPr>
        <p:spPr>
          <a:xfrm>
            <a:off x="6151210" y="3367187"/>
            <a:ext cx="5456101" cy="2946797"/>
          </a:xfrm>
          <a:prstGeom prst="roundRect">
            <a:avLst>
              <a:gd name="adj" fmla="val 500"/>
            </a:avLst>
          </a:prstGeom>
          <a:solidFill>
            <a:srgbClr val="1A1A1A"/>
          </a:solidFill>
          <a:ln/>
        </p:spPr>
      </p:sp>
      <p:sp>
        <p:nvSpPr>
          <p:cNvPr id="26" name="Text 17"/>
          <p:cNvSpPr/>
          <p:nvPr/>
        </p:nvSpPr>
        <p:spPr>
          <a:xfrm>
            <a:off x="6249335" y="3425428"/>
            <a:ext cx="5259851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66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Design Principle: FAIL-CLOSED</a:t>
            </a:r>
            <a:endParaRPr lang="en-US" sz="950" dirty="0"/>
          </a:p>
        </p:txBody>
      </p:sp>
      <p:sp>
        <p:nvSpPr>
          <p:cNvPr id="27" name="Text 18"/>
          <p:cNvSpPr/>
          <p:nvPr/>
        </p:nvSpPr>
        <p:spPr>
          <a:xfrm>
            <a:off x="6249335" y="3637062"/>
            <a:ext cx="5869436" cy="125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Inability to confirm safety must not silently become "safe."</a:t>
            </a:r>
            <a:endParaRPr lang="en-US" sz="750" dirty="0"/>
          </a:p>
        </p:txBody>
      </p:sp>
      <p:sp>
        <p:nvSpPr>
          <p:cNvPr id="28" name="Text 19"/>
          <p:cNvSpPr/>
          <p:nvPr/>
        </p:nvSpPr>
        <p:spPr>
          <a:xfrm>
            <a:off x="6249335" y="3814663"/>
            <a:ext cx="5259851" cy="687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Alerts remain </a:t>
            </a:r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active until explicitly cleared</a:t>
            </a:r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by a human operator or by confirmed safe-state readings from multiple sensors</a:t>
            </a:r>
            <a:endParaRPr lang="en-US" sz="750" dirty="0"/>
          </a:p>
          <a:p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Watchdog timers trigger local indication if software stack becomes unresponsive</a:t>
            </a:r>
            <a:endParaRPr lang="en-US" sz="750" dirty="0"/>
          </a:p>
          <a:p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CRC failures cause packet discard — not processing of potentially corrupted data</a:t>
            </a:r>
            <a:endParaRPr lang="en-US" sz="750" dirty="0"/>
          </a:p>
          <a:p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Node silence (no heartbeat) is treated as a fault, not as nominal operation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Prototype, Validation &amp; Zero-Budget Engineering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795933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Honest assessment: what is real infrastructure vs. simulated transducers.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Credibility requires transparency — the architecture is real; the physical transducers are software-simulated due to a ₹0 hardware budget.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01945" y="941487"/>
            <a:ext cx="5452628" cy="1573808"/>
          </a:xfrm>
          <a:prstGeom prst="roundRect">
            <a:avLst>
              <a:gd name="adj" fmla="val 788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684592" y="982762"/>
            <a:ext cx="5287334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66C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✓ REAL — Fully Implemented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4592" y="1153220"/>
            <a:ext cx="5287334" cy="1347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Raspberry Pi 4B edge gateway infrastructure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ESP32 sensor node hardware &amp; firmware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MQTT broker (Mosquitto) &amp; telemetry pipeline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Wireless mesh network architecture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Edge AI inference pipeline (TFLite / scikit-learn)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Multi-sensor fusion &amp; spatial correlation algorithms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FastAPI backend &amp; GIS dashboard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OLED status display &amp; NeoPixel indicators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GPIO tripwire event trigger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Offline buffering &amp; synchronization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 rendering &amp; SACHET/CAP integration framework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Raspberry Pi CPU temperature (actual hardware metric)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203001" y="982762"/>
            <a:ext cx="5333569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</a:t>
            </a:r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66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SIMULATED — Budget Constraint (₹0)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03001" y="1165920"/>
            <a:ext cx="5333569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Physical transducers unavailable. Prototype uses a software sensor simulator generating MQTT packets in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identical format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real sensors — the full data pipeline is exercised regardless of transducer source.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6203001" y="1401366"/>
            <a:ext cx="5333569" cy="553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Smoke sensor (MQ-2) → software-generated MQTT stream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PM2.5 / PM10 particulate → software-generated MQTT stream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Water level sensor → software-generated MQTT stream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Humidity sensor (DHT22) → software-generated MQTT stream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Dedicated temperature sensor → software-generated MQTT stream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6203001" y="2000945"/>
            <a:ext cx="5333569" cy="214809"/>
          </a:xfrm>
          <a:prstGeom prst="roundRect">
            <a:avLst>
              <a:gd name="adj" fmla="val 5775"/>
            </a:avLst>
          </a:prstGeom>
          <a:solidFill>
            <a:srgbClr val="E3E3E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5648" y="2066727"/>
            <a:ext cx="103284" cy="8264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71580" y="2058789"/>
            <a:ext cx="5591928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sensing transducer is simulated; the distributed intelligence architecture is real.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661475" y="2603004"/>
            <a:ext cx="588699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7-Step Validation Plan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61475" y="2778621"/>
            <a:ext cx="16529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661475" y="2906316"/>
            <a:ext cx="5886997" cy="1270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6" name="Text 13"/>
          <p:cNvSpPr/>
          <p:nvPr/>
        </p:nvSpPr>
        <p:spPr>
          <a:xfrm>
            <a:off x="661475" y="2972991"/>
            <a:ext cx="588699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Stable Baseline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61475" y="3143448"/>
            <a:ext cx="588699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Establish nominal operation across all nodes — confirm GREEN state, low variance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661475" y="3345855"/>
            <a:ext cx="16529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661475" y="3473549"/>
            <a:ext cx="5886997" cy="1270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20" name="Text 17"/>
          <p:cNvSpPr/>
          <p:nvPr/>
        </p:nvSpPr>
        <p:spPr>
          <a:xfrm>
            <a:off x="661475" y="3540224"/>
            <a:ext cx="588699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Single-Node Disturbance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61475" y="3710682"/>
            <a:ext cx="588699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Inject anomaly on one node — validate local detection and confidence scoring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661475" y="3913088"/>
            <a:ext cx="16529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661475" y="4040783"/>
            <a:ext cx="5886997" cy="1270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24" name="Text 21"/>
          <p:cNvSpPr/>
          <p:nvPr/>
        </p:nvSpPr>
        <p:spPr>
          <a:xfrm>
            <a:off x="661475" y="4107458"/>
            <a:ext cx="588699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Multi-Node Hazard Signature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61475" y="4277916"/>
            <a:ext cx="588699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Coordinated anomaly across 3+ nodes — validate spatial correlation and RED alert escalation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661475" y="4480322"/>
            <a:ext cx="16529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661475" y="4608016"/>
            <a:ext cx="5886997" cy="1270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28" name="Text 25"/>
          <p:cNvSpPr/>
          <p:nvPr/>
        </p:nvSpPr>
        <p:spPr>
          <a:xfrm>
            <a:off x="661475" y="4674691"/>
            <a:ext cx="588699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False-Positive Injection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61475" y="4845149"/>
            <a:ext cx="588699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Noise and drift patterns — validate that single-sensor spikes do not trigger alerts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661475" y="5047555"/>
            <a:ext cx="16529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661475" y="5175250"/>
            <a:ext cx="5886997" cy="1270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32" name="Text 29"/>
          <p:cNvSpPr/>
          <p:nvPr/>
        </p:nvSpPr>
        <p:spPr>
          <a:xfrm>
            <a:off x="661475" y="5241925"/>
            <a:ext cx="588699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Network Failure Scenarios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61475" y="5412383"/>
            <a:ext cx="588699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Mesh partition, gateway loss — validate local buffering and sync-on-reconnect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661475" y="5614789"/>
            <a:ext cx="16529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06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661475" y="5742484"/>
            <a:ext cx="5886997" cy="1270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36" name="Text 33"/>
          <p:cNvSpPr/>
          <p:nvPr/>
        </p:nvSpPr>
        <p:spPr>
          <a:xfrm>
            <a:off x="661475" y="5809159"/>
            <a:ext cx="588699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Node Failure &amp; Recovery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61475" y="5979616"/>
            <a:ext cx="588699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Offline → online transition — validate ring-buffer replay and topology reconfiguration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661475" y="6182023"/>
            <a:ext cx="16529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07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661475" y="6309717"/>
            <a:ext cx="5886997" cy="1270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40" name="Text 37"/>
          <p:cNvSpPr/>
          <p:nvPr/>
        </p:nvSpPr>
        <p:spPr>
          <a:xfrm>
            <a:off x="661475" y="6376392"/>
            <a:ext cx="588699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Alert Integration Test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61475" y="6546850"/>
            <a:ext cx="588699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End-to-end SACHET/CAP message generation — validate protocol compliance</a:t>
            </a:r>
            <a:endParaRPr lang="en-US" sz="650" dirty="0"/>
          </a:p>
        </p:txBody>
      </p:sp>
      <p:sp>
        <p:nvSpPr>
          <p:cNvPr id="42" name="Text 39"/>
          <p:cNvSpPr/>
          <p:nvPr/>
        </p:nvSpPr>
        <p:spPr>
          <a:xfrm>
            <a:off x="6756429" y="2603004"/>
            <a:ext cx="4780041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Target Performance Metrics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56429" y="2778621"/>
          <a:ext cx="9143771" cy="914400"/>
        </p:xfrm>
        <a:graphic>
          <a:graphicData uri="http://schemas.openxmlformats.org/drawingml/2006/table">
            <a:tbl>
              <a:tblPr/>
              <a:tblGrid>
                <a:gridCol w="2390021"/>
                <a:gridCol w="2390021"/>
              </a:tblGrid>
              <a:tr h="164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Metric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Target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167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Detection latency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&lt; 60 seconds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167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False-positive rate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&lt; 5% per 24h window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167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Packet loss (mesh)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&lt; 2%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167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System uptime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&gt; 99%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164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Fusion accuracy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&gt; 90%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303"/>
            <a:ext cx="10868745" cy="363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Deployment, Scalability &amp; Technical Differentiation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047155"/>
            <a:ext cx="11478330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From prototype to national-scale environmental intelligence layer.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1379240"/>
            <a:ext cx="4177303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Deployment Evolution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52885"/>
            <a:ext cx="348844" cy="952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2073" y="1769170"/>
            <a:ext cx="3746704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4 Nodes — Prototype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92073" y="2032595"/>
            <a:ext cx="3746704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Single-cluster validation. Current stage. Core pipeline proven.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897" y="2432348"/>
            <a:ext cx="348844" cy="952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66496" y="2548632"/>
            <a:ext cx="3572282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20–50 Nodes — Local Pilot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266496" y="2812058"/>
            <a:ext cx="3572282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Village / ward deployment. LoRa mesh. Solar-powered field nodes.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319" y="3326805"/>
            <a:ext cx="348844" cy="9525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40918" y="3443089"/>
            <a:ext cx="3397860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100+ Nodes — City / Forest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440918" y="3706515"/>
            <a:ext cx="3397860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Multi-cluster hierarchy. Regional edge gateways. GIS risk maps.</a:t>
            </a:r>
            <a:endParaRPr lang="en-US" sz="9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741" y="4106267"/>
            <a:ext cx="348844" cy="9525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15340" y="4222552"/>
            <a:ext cx="3223437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1000+ Nodes — Multi-Region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1615340" y="4485977"/>
            <a:ext cx="3223437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National-scale layer. SACHET/CAP live integration. Qualcomm silicon.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5128687" y="1379240"/>
            <a:ext cx="6407783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Production Hardware Evolution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8687" y="1652885"/>
          <a:ext cx="9143771" cy="914400"/>
        </p:xfrm>
        <a:graphic>
          <a:graphicData uri="http://schemas.openxmlformats.org/drawingml/2006/table">
            <a:tbl>
              <a:tblPr/>
              <a:tblGrid>
                <a:gridCol w="1601946"/>
                <a:gridCol w="1601946"/>
                <a:gridCol w="1601946"/>
                <a:gridCol w="1601946"/>
              </a:tblGrid>
              <a:tr h="272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Phase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Hardware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Power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Connectivity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7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Prototype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ESP32 + Raspberry Pi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Mains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Wi-Fi mesh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433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Pilot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Low-power field MCU + Pi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Solar + battery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LoRa mesh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4305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Production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Qualcomm Snapdragon / Dragonwing-class edge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Solar + supercapacitor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5G / LoRa hybrid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5128687" y="3169642"/>
            <a:ext cx="6407783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Technical Differentiation Matrix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8687" y="3443288"/>
          <a:ext cx="9143771" cy="914400"/>
        </p:xfrm>
        <a:graphic>
          <a:graphicData uri="http://schemas.openxmlformats.org/drawingml/2006/table">
            <a:tbl>
              <a:tblPr/>
              <a:tblGrid>
                <a:gridCol w="2135928"/>
                <a:gridCol w="2135928"/>
                <a:gridCol w="2135928"/>
              </a:tblGrid>
              <a:tr h="272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Capability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Typical Approach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Our Architecture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27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Local sensing density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Limited / sparse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6C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Distributed dense network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27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Edge AI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Cloud-dependent / absent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6C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Core architecture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27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Multi-sensor fusion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Rare — single-sensor trust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6C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Core capability — Bayesian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27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Spatial correlation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Rare / absent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6C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Core capability — multi-node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27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Offline operation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Weak / limited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6C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Built-in, fully autonomous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27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Alert integration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Standalone application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SACHET/CAP architectural target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272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Scalability model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Centralized bottleneck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6C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Hierarchical edge-native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16291" marR="116291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</a:tbl>
          </a:graphicData>
        </a:graphic>
      </p:graphicFrame>
      <p:sp>
        <p:nvSpPr>
          <p:cNvPr id="21" name="Text 13"/>
          <p:cNvSpPr/>
          <p:nvPr/>
        </p:nvSpPr>
        <p:spPr>
          <a:xfrm>
            <a:off x="835897" y="5929015"/>
            <a:ext cx="10694323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We are not replacing India's centralized environmental monitoring. We are adding the missing local, real-time, edge-intelligent sensing layer that operates continuously between centralized monitoring cycles — providing the village-level ground truth that satellite and centralized systems cannot.</a:t>
            </a:r>
            <a:endParaRPr lang="en-US" sz="900" dirty="0"/>
          </a:p>
        </p:txBody>
      </p:sp>
      <p:sp>
        <p:nvSpPr>
          <p:cNvPr id="22" name="Shape 14"/>
          <p:cNvSpPr/>
          <p:nvPr/>
        </p:nvSpPr>
        <p:spPr>
          <a:xfrm>
            <a:off x="661475" y="5837039"/>
            <a:ext cx="12700" cy="500658"/>
          </a:xfrm>
          <a:prstGeom prst="roundRect">
            <a:avLst>
              <a:gd name="adj" fmla="val 49999"/>
            </a:avLst>
          </a:prstGeom>
          <a:solidFill>
            <a:srgbClr val="10101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2026-09-06T16:02:26Z</dcterms:created>
  <dcterms:modified xsi:type="dcterms:W3CDTF">2026-09-06T16:02:26Z</dcterms:modified>
</cp:coreProperties>
</file>