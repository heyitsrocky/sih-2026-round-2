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Open Sans Bold"/>
      <p:regular r:id="rId201314"/>
    </p:embeddedFont>
    <p:embeddedFont>
      <p:font typeface="Open Sans"/>
      <p:regular r:id="rId201315"/>
    </p:embeddedFont>
    <p:embeddedFont>
      <p:font typeface="Open Sans SemiBold"/>
      <p:regular r:id="rId201316"/>
    </p:embeddedFont>
    <p:embeddedFont>
      <p:font typeface="Playfair Display"/>
      <p:regular r:id="rId201317"/>
    </p:embeddedFont>
    <p:embeddedFont>
      <p:font typeface="Playfair Display SemiBold"/>
      <p:regular r:id="rId201318"/>
    </p:embeddedFont>
    <p:embeddedFont>
      <p:font typeface="Playfair Display Bold"/>
      <p:regular r:id="rId201319"/>
    </p:embeddedFont>
    <p:embeddedFont>
      <p:font typeface="Playfair Display Black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6.png"/><Relationship Id="rId9" Type="http://schemas.openxmlformats.org/officeDocument/2006/relationships/image" Target="../media/image-2-7.svg"/><Relationship Id="rId10" Type="http://schemas.openxmlformats.org/officeDocument/2006/relationships/image" Target="../media/image-2-6.png"/><Relationship Id="rId11" Type="http://schemas.openxmlformats.org/officeDocument/2006/relationships/image" Target="../media/image-2-7.svg"/><Relationship Id="rId12" Type="http://schemas.openxmlformats.org/officeDocument/2006/relationships/image" Target="../media/image-2-6.png"/><Relationship Id="rId13" Type="http://schemas.openxmlformats.org/officeDocument/2006/relationships/image" Target="../media/image-2-7.svg"/><Relationship Id="rId14" Type="http://schemas.openxmlformats.org/officeDocument/2006/relationships/image" Target="../media/image-1-1.pn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image" Target="../media/image-6-1.png"/><Relationship Id="rId8" Type="http://schemas.openxmlformats.org/officeDocument/2006/relationships/image" Target="../media/image-6-2.sv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9-1.png"/><Relationship Id="rId8" Type="http://schemas.openxmlformats.org/officeDocument/2006/relationships/image" Target="../media/image-9-2.svg"/><Relationship Id="rId9" Type="http://schemas.openxmlformats.org/officeDocument/2006/relationships/image" Target="../media/image-9-1.png"/><Relationship Id="rId10" Type="http://schemas.openxmlformats.org/officeDocument/2006/relationships/image" Target="../media/image-9-2.svg"/><Relationship Id="rId11" Type="http://schemas.openxmlformats.org/officeDocument/2006/relationships/image" Target="../media/image-9-1.png"/><Relationship Id="rId12" Type="http://schemas.openxmlformats.org/officeDocument/2006/relationships/image" Target="../media/image-9-2.svg"/><Relationship Id="rId13" Type="http://schemas.openxmlformats.org/officeDocument/2006/relationships/image" Target="../media/image-9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6157"/>
            <a:ext cx="10868745" cy="888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SIH26025 | Distributed Edge Intelligence for Mine Subsidence Monitoring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658640"/>
            <a:ext cx="11478330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AI-Assisted Real-Time Deformation Detection &amp; Early Warning Decision-Support System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59183" y="2007394"/>
            <a:ext cx="6587166" cy="3461147"/>
          </a:xfrm>
          <a:prstGeom prst="roundRect">
            <a:avLst>
              <a:gd name="adj" fmla="val 616"/>
            </a:avLst>
          </a:prstGeom>
          <a:solidFill>
            <a:srgbClr val="101014"/>
          </a:solidFill>
          <a:ln/>
        </p:spPr>
      </p:sp>
      <p:sp>
        <p:nvSpPr>
          <p:cNvPr id="5" name="Text 3"/>
          <p:cNvSpPr/>
          <p:nvPr/>
        </p:nvSpPr>
        <p:spPr>
          <a:xfrm>
            <a:off x="701261" y="2129532"/>
            <a:ext cx="6303011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System Overview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01261" y="2473722"/>
            <a:ext cx="6303011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Surface Sensor Nodes → Wireless Mesh → Pi 4 Edge Gateway → AI/ML Correlation Engine → GIS Dashboard + Alerts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01261" y="3112095"/>
            <a:ext cx="71039" cy="71041"/>
          </a:xfrm>
          <a:prstGeom prst="ellipse">
            <a:avLst/>
          </a:prstGeom>
          <a:solidFill>
            <a:srgbClr val="101014"/>
          </a:solidFill>
          <a:ln/>
        </p:spPr>
      </p:sp>
      <p:sp>
        <p:nvSpPr>
          <p:cNvPr id="8" name="Text 6"/>
          <p:cNvSpPr/>
          <p:nvPr/>
        </p:nvSpPr>
        <p:spPr>
          <a:xfrm>
            <a:off x="894435" y="3033911"/>
            <a:ext cx="2882034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Ministry of Coal / Coal India Limited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29063" y="3112095"/>
            <a:ext cx="71039" cy="71041"/>
          </a:xfrm>
          <a:prstGeom prst="ellipse">
            <a:avLst/>
          </a:prstGeom>
          <a:solidFill>
            <a:srgbClr val="101014"/>
          </a:solidFill>
          <a:ln/>
        </p:spPr>
      </p:sp>
      <p:sp>
        <p:nvSpPr>
          <p:cNvPr id="10" name="Text 8"/>
          <p:cNvSpPr/>
          <p:nvPr/>
        </p:nvSpPr>
        <p:spPr>
          <a:xfrm>
            <a:off x="4122237" y="3033911"/>
            <a:ext cx="2882034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Hardware Category | Disaster Management Theme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1261" y="3779242"/>
            <a:ext cx="71039" cy="71041"/>
          </a:xfrm>
          <a:prstGeom prst="ellipse">
            <a:avLst/>
          </a:prstGeom>
          <a:solidFill>
            <a:srgbClr val="101014"/>
          </a:solidFill>
          <a:ln/>
        </p:spPr>
      </p:sp>
      <p:sp>
        <p:nvSpPr>
          <p:cNvPr id="12" name="Text 10"/>
          <p:cNvSpPr/>
          <p:nvPr/>
        </p:nvSpPr>
        <p:spPr>
          <a:xfrm>
            <a:off x="894435" y="3701058"/>
            <a:ext cx="6109837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Objective: Continuous local deformation monitoring between conventional survey cycles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97069" y="2144713"/>
            <a:ext cx="4139501" cy="1051223"/>
          </a:xfrm>
          <a:prstGeom prst="roundRect">
            <a:avLst>
              <a:gd name="adj" fmla="val 2028"/>
            </a:avLst>
          </a:prstGeom>
          <a:solidFill>
            <a:srgbClr val="E0E0EC"/>
          </a:solidFill>
          <a:ln/>
        </p:spPr>
      </p:sp>
      <p:sp>
        <p:nvSpPr>
          <p:cNvPr id="14" name="Text 12"/>
          <p:cNvSpPr/>
          <p:nvPr/>
        </p:nvSpPr>
        <p:spPr>
          <a:xfrm>
            <a:off x="7539147" y="2286794"/>
            <a:ext cx="3855346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Sensor Layer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539147" y="2630984"/>
            <a:ext cx="3855346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ESP32-C3 nodes — tilt, vibration, displacement, crack state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97069" y="3318073"/>
            <a:ext cx="4139501" cy="1051223"/>
          </a:xfrm>
          <a:prstGeom prst="roundRect">
            <a:avLst>
              <a:gd name="adj" fmla="val 2028"/>
            </a:avLst>
          </a:prstGeom>
          <a:solidFill>
            <a:srgbClr val="E0E0EC"/>
          </a:solidFill>
          <a:ln/>
        </p:spPr>
      </p:sp>
      <p:sp>
        <p:nvSpPr>
          <p:cNvPr id="17" name="Text 15"/>
          <p:cNvSpPr/>
          <p:nvPr/>
        </p:nvSpPr>
        <p:spPr>
          <a:xfrm>
            <a:off x="7539147" y="3460155"/>
            <a:ext cx="3855346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Edge Intelligence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539147" y="3804345"/>
            <a:ext cx="3855346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Raspberry Pi 4B — offline-capable AI/ML correlation engine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97069" y="4491434"/>
            <a:ext cx="4139501" cy="839788"/>
          </a:xfrm>
          <a:prstGeom prst="roundRect">
            <a:avLst>
              <a:gd name="adj" fmla="val 2539"/>
            </a:avLst>
          </a:prstGeom>
          <a:solidFill>
            <a:srgbClr val="E0E0EC"/>
          </a:solidFill>
          <a:ln/>
        </p:spPr>
      </p:sp>
      <p:sp>
        <p:nvSpPr>
          <p:cNvPr id="20" name="Text 18"/>
          <p:cNvSpPr/>
          <p:nvPr/>
        </p:nvSpPr>
        <p:spPr>
          <a:xfrm>
            <a:off x="7539147" y="4633516"/>
            <a:ext cx="3855346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Output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539147" y="4977705"/>
            <a:ext cx="3855346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GIS deformation map, risk zones, SMS/email alerts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1475" y="5605859"/>
            <a:ext cx="10868745" cy="725884"/>
          </a:xfrm>
          <a:prstGeom prst="roundRect">
            <a:avLst>
              <a:gd name="adj" fmla="val 2937"/>
            </a:avLst>
          </a:prstGeom>
          <a:solidFill>
            <a:srgbClr val="E3E3E8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553" y="5785247"/>
            <a:ext cx="177597" cy="142081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23227" y="5763518"/>
            <a:ext cx="10264915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Precise framing:</a:t>
            </a:r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This system is an AI-assisted deformation detection and early-warning decision-support tool — not a DGMS-certified structural-safety instrument and not a guaranteed cave-in predictor.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2465"/>
            <a:ext cx="10868745" cy="444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Problem → Engineering Requirements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261864"/>
            <a:ext cx="5261042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Physical Phenomenon Chain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21234"/>
            <a:ext cx="5261042" cy="24078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89864" y="3457289"/>
            <a:ext cx="987711" cy="1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Surface Tilt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3445078" y="3362151"/>
            <a:ext cx="987711" cy="380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Ground Deform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207056" y="3457289"/>
            <a:ext cx="987711" cy="1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Stress Shift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941975" y="3457289"/>
            <a:ext cx="987711" cy="1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Extraction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275528" y="1261864"/>
            <a:ext cx="5261042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Derived Engineering Requirements</a:t>
            </a:r>
            <a:endParaRPr lang="en-US" sz="13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75528" y="1621234"/>
            <a:ext cx="2569404" cy="108932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12853" y="1782366"/>
            <a:ext cx="2170951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Continuous Monitoring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512853" y="2126555"/>
            <a:ext cx="2170951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Distributed sensor nodes — not periodic survey points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67067" y="1621234"/>
            <a:ext cx="2569503" cy="108932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204392" y="1782366"/>
            <a:ext cx="2171050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Multi-Point Deformation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9204392" y="2126555"/>
            <a:ext cx="2171050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Wireless surface mesh — spatial correlation across nodes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75528" y="2832695"/>
            <a:ext cx="2569404" cy="130075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12853" y="2993827"/>
            <a:ext cx="2170951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Local Intelligence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6512853" y="3338016"/>
            <a:ext cx="2170951" cy="6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Raspberry Pi edge gateway — inference without cloud dependency</a:t>
            </a:r>
            <a:endParaRPr lang="en-US" sz="11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67067" y="2832695"/>
            <a:ext cx="2569503" cy="130075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204392" y="2993827"/>
            <a:ext cx="2171050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No Reliable Internet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9204392" y="3338016"/>
            <a:ext cx="2171050" cy="6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Offline-first architecture — buffer, process, sync on reconnect</a:t>
            </a:r>
            <a:endParaRPr lang="en-US" sz="11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75528" y="4255591"/>
            <a:ext cx="2569404" cy="130075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512853" y="4416723"/>
            <a:ext cx="2170951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False-Positive Reduction</a:t>
            </a:r>
            <a:endParaRPr lang="en-US" sz="1350" dirty="0"/>
          </a:p>
        </p:txBody>
      </p:sp>
      <p:sp>
        <p:nvSpPr>
          <p:cNvPr id="24" name="Text 16"/>
          <p:cNvSpPr/>
          <p:nvPr/>
        </p:nvSpPr>
        <p:spPr>
          <a:xfrm>
            <a:off x="6512853" y="4760912"/>
            <a:ext cx="2170951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Multi-node spatial correlation — not single-threshold alerting</a:t>
            </a:r>
            <a:endParaRPr lang="en-US" sz="11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67067" y="4255591"/>
            <a:ext cx="2569503" cy="130075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204392" y="4416723"/>
            <a:ext cx="2171050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Low Deployment Cost</a:t>
            </a:r>
            <a:endParaRPr lang="en-US" sz="1350" dirty="0"/>
          </a:p>
        </p:txBody>
      </p:sp>
      <p:sp>
        <p:nvSpPr>
          <p:cNvPr id="27" name="Text 18"/>
          <p:cNvSpPr/>
          <p:nvPr/>
        </p:nvSpPr>
        <p:spPr>
          <a:xfrm>
            <a:off x="9204392" y="4760912"/>
            <a:ext cx="2171050" cy="6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ESP32-based nodes — commodity hardware, modular expansion</a:t>
            </a:r>
            <a:endParaRPr lang="en-US" sz="1100" dirty="0"/>
          </a:p>
        </p:txBody>
      </p:sp>
      <p:sp>
        <p:nvSpPr>
          <p:cNvPr id="28" name="Shape 19"/>
          <p:cNvSpPr/>
          <p:nvPr/>
        </p:nvSpPr>
        <p:spPr>
          <a:xfrm>
            <a:off x="661475" y="5830987"/>
            <a:ext cx="10868745" cy="514449"/>
          </a:xfrm>
          <a:prstGeom prst="roundRect">
            <a:avLst>
              <a:gd name="adj" fmla="val 4144"/>
            </a:avLst>
          </a:prstGeom>
          <a:solidFill>
            <a:srgbClr val="E3E3E8"/>
          </a:solidFill>
          <a:ln/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3553" y="6010374"/>
            <a:ext cx="177597" cy="142081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123227" y="5988645"/>
            <a:ext cx="10874500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Core constraint:</a:t>
            </a:r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system must produce local intelligence and issue alerts even when cloud connectivity disappears entirely.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End-to-End System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1475" y="729754"/>
            <a:ext cx="10868745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Four-Layer Distributed Stack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20948"/>
            <a:ext cx="9753356" cy="548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6495058"/>
            <a:ext cx="2565931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Layer 1 — Sensor Nodes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61475" y="6665516"/>
            <a:ext cx="2565931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ESP32-C3/WROOM. Local sampling at configurable intervals. On-node filtering and feature extraction before transmission.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3435363" y="6495058"/>
            <a:ext cx="2565931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Layer 2 — Mesh Comms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435363" y="6665516"/>
            <a:ext cx="2565931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LoRa / Zigbee / Wi-Fi mesh. MQTT telemetry with node ID, timestamp, sequence counter, CRC integrity check.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6209252" y="6495058"/>
            <a:ext cx="2565931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Layer 3 — Edge Gateway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209252" y="6665516"/>
            <a:ext cx="2565931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 4 MQTT broker. Time-series DB. Anomaly detection, multi-node spatial correlation, risk scoring, alert dispatch.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8983140" y="6495058"/>
            <a:ext cx="2565931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Layer 4 — Application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983140" y="6665516"/>
            <a:ext cx="2565931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GIS deformation map, risk zone overlay, operator dashboard, SMS/email alerts, optional cloud sync when online.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661475" y="6947396"/>
            <a:ext cx="10868745" cy="218877"/>
          </a:xfrm>
          <a:prstGeom prst="roundRect">
            <a:avLst>
              <a:gd name="adj" fmla="val 5667"/>
            </a:avLst>
          </a:prstGeom>
          <a:solidFill>
            <a:srgbClr val="E3E3E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122" y="7009309"/>
            <a:ext cx="103284" cy="8264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30053" y="7009309"/>
            <a:ext cx="1112710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Key architectural principle: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Intelligence is distributed across the mesh — not centralized in a cloud endpoint. The system degrades gracefully with each layer operating independently if upstream connectivity fails.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0820"/>
            <a:ext cx="1086874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ULTRON Hardware → Mine Monitoring Platform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1475" y="1261170"/>
            <a:ext cx="5824590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Existing Infrastructure Mapping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611610"/>
          <a:ext cx="9143771" cy="914400"/>
        </p:xfrm>
        <a:graphic>
          <a:graphicData uri="http://schemas.openxmlformats.org/drawingml/2006/table">
            <a:tbl>
              <a:tblPr/>
              <a:tblGrid>
                <a:gridCol w="1941530"/>
                <a:gridCol w="1941530"/>
                <a:gridCol w="1941530"/>
              </a:tblGrid>
              <a:tr h="363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Component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Role in System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Status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5720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Raspberry Pi 4B 8GB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Edge gateway + AI/ML inference + MQTT broker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✓ Real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5720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Raspberry Pi 3A+ / 3B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Distributed sensor node controllers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✓ Real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5720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ESP32-C3 / ESP32-WROOM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Sensor interface, relay nodes, edge filtering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✓ Real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5720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5-Port Ethernet Switch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Local wired backbone for gateway cluster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✓ Real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5720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500GB SSD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Offline telemetry storage + on-device ML models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✓ Real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5720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NeoPixel + OLED Display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Visual status indicator + local alert display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✓ Real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774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Physical Subsidence Transducers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MPU6050, ADXL345, displacement, crack sensors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Simulated</a:t>
                      </a:r>
                      <a:endParaRPr lang="en-US" sz="10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32727" y="1261170"/>
            <a:ext cx="470374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Prototype Boundary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832727" y="1611610"/>
            <a:ext cx="2292987" cy="1656755"/>
          </a:xfrm>
          <a:prstGeom prst="roundRect">
            <a:avLst>
              <a:gd name="adj" fmla="val 1263"/>
            </a:avLst>
          </a:prstGeom>
          <a:solidFill>
            <a:srgbClr val="E0E0EC"/>
          </a:solidFill>
          <a:ln/>
        </p:spPr>
      </p:sp>
      <p:sp>
        <p:nvSpPr>
          <p:cNvPr id="7" name="Text 4"/>
          <p:cNvSpPr/>
          <p:nvPr/>
        </p:nvSpPr>
        <p:spPr>
          <a:xfrm>
            <a:off x="6972225" y="1751112"/>
            <a:ext cx="201399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✓ Implemented &amp; Real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972225" y="2086769"/>
            <a:ext cx="2013991" cy="1029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Compute cluster, mesh network, MQTT broker, edge inference engine, correlation logic, GIS dashboard, alert pipeline, SSD storage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9243384" y="1611610"/>
            <a:ext cx="2293086" cy="1656755"/>
          </a:xfrm>
          <a:prstGeom prst="roundRect">
            <a:avLst>
              <a:gd name="adj" fmla="val 1263"/>
            </a:avLst>
          </a:prstGeom>
          <a:solidFill>
            <a:srgbClr val="E0E0EC"/>
          </a:solidFill>
          <a:ln/>
        </p:spPr>
      </p:sp>
      <p:sp>
        <p:nvSpPr>
          <p:cNvPr id="10" name="Text 7"/>
          <p:cNvSpPr/>
          <p:nvPr/>
        </p:nvSpPr>
        <p:spPr>
          <a:xfrm>
            <a:off x="9382882" y="1751112"/>
            <a:ext cx="2014090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⚙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Software-Simulated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382882" y="2099469"/>
            <a:ext cx="2014090" cy="1029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Physical subsidence transducers — replaced by sensor simulator publishing identical telemetry over the same MQTT interface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832727" y="3400822"/>
            <a:ext cx="4703744" cy="1105098"/>
          </a:xfrm>
          <a:prstGeom prst="roundRect">
            <a:avLst>
              <a:gd name="adj" fmla="val 1894"/>
            </a:avLst>
          </a:prstGeom>
          <a:solidFill>
            <a:srgbClr val="E3E3E8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225" y="3583583"/>
            <a:ext cx="174422" cy="1395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86145" y="3541613"/>
            <a:ext cx="4110828" cy="823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No new compute infrastructure required.</a:t>
            </a:r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Prototype runs entirely on existing ULTRON hardware inventory. Sensor simulator enables hardware-layer substitution without redesigning the downstream stack.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7405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Sensor &amp; Node Engineering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932259"/>
            <a:ext cx="1086874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Physical Deformation → Digital Feature Vector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61475" y="1358503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Node Processing Pipeline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56854"/>
            <a:ext cx="5283068" cy="22782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6947" y="3503071"/>
            <a:ext cx="1198562" cy="149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Timestamp &amp; Seq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16947" y="2975691"/>
            <a:ext cx="1198562" cy="149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Extract Features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16947" y="2453637"/>
            <a:ext cx="1198562" cy="149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Apply Filter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16947" y="1926256"/>
            <a:ext cx="1198562" cy="149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Sample Data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61475" y="4039691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Sensor Suite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1475" y="4338042"/>
            <a:ext cx="2595001" cy="907455"/>
          </a:xfrm>
          <a:prstGeom prst="roundRect">
            <a:avLst>
              <a:gd name="adj" fmla="val 2050"/>
            </a:avLst>
          </a:prstGeom>
          <a:solidFill>
            <a:srgbClr val="F3F3F7"/>
          </a:solidFill>
          <a:ln w="12700">
            <a:solidFill>
              <a:srgbClr val="C6C6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8195" y="4474766"/>
            <a:ext cx="232156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MPU6050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98195" y="4761508"/>
            <a:ext cx="2321561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3-axis tilt / acceleration — primary deformation indicator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349442" y="4338042"/>
            <a:ext cx="2595101" cy="907455"/>
          </a:xfrm>
          <a:prstGeom prst="roundRect">
            <a:avLst>
              <a:gd name="adj" fmla="val 2050"/>
            </a:avLst>
          </a:prstGeom>
          <a:solidFill>
            <a:srgbClr val="F3F3F7"/>
          </a:solidFill>
          <a:ln w="12700">
            <a:solidFill>
              <a:srgbClr val="C6C6D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86162" y="4474766"/>
            <a:ext cx="232166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ADXL345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486162" y="4761508"/>
            <a:ext cx="2321661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High-resolution vibration measurement — seismic event detection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61475" y="5338465"/>
            <a:ext cx="2595001" cy="907455"/>
          </a:xfrm>
          <a:prstGeom prst="roundRect">
            <a:avLst>
              <a:gd name="adj" fmla="val 2050"/>
            </a:avLst>
          </a:prstGeom>
          <a:solidFill>
            <a:srgbClr val="F3F3F7"/>
          </a:solidFill>
          <a:ln w="12700">
            <a:solidFill>
              <a:srgbClr val="C6C6D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8195" y="5475188"/>
            <a:ext cx="232156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Displacement Transducer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98195" y="5761930"/>
            <a:ext cx="2321561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Absolute ground movement — vertical &amp; horizontal components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349442" y="5338465"/>
            <a:ext cx="2595101" cy="907455"/>
          </a:xfrm>
          <a:prstGeom prst="roundRect">
            <a:avLst>
              <a:gd name="adj" fmla="val 2050"/>
            </a:avLst>
          </a:prstGeom>
          <a:solidFill>
            <a:srgbClr val="F3F3F7"/>
          </a:solidFill>
          <a:ln w="12700">
            <a:solidFill>
              <a:srgbClr val="C6C6D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86162" y="5475188"/>
            <a:ext cx="232166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Crack Sensor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486162" y="5761930"/>
            <a:ext cx="2321661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Binary / analog crack-state detection at surface structures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253502" y="1358503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Feature Vector Definition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439533" y="1740495"/>
            <a:ext cx="5706622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X(t) = [tilt, vibration_RMS, displacement, crack_state, dX/dt]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253502" y="1656854"/>
            <a:ext cx="12700" cy="340916"/>
          </a:xfrm>
          <a:prstGeom prst="roundRect">
            <a:avLst>
              <a:gd name="adj" fmla="val 49999"/>
            </a:avLst>
          </a:prstGeom>
          <a:solidFill>
            <a:srgbClr val="101014"/>
          </a:solidFill>
          <a:ln/>
        </p:spPr>
      </p:sp>
      <p:sp>
        <p:nvSpPr>
          <p:cNvPr id="26" name="Text 23"/>
          <p:cNvSpPr/>
          <p:nvPr/>
        </p:nvSpPr>
        <p:spPr>
          <a:xfrm>
            <a:off x="6253502" y="2102346"/>
            <a:ext cx="5283068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node publishes a structured feature vector per sample epoch. The derivative term </a:t>
            </a:r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dX/dt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encodes rate-of-change, enabling detection of accelerating deformation — the operationally significant condition — not merely absolute displacement magnitude.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253502" y="2716213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Prototype Sensor Status</a:t>
            </a:r>
            <a:endParaRPr lang="en-US" sz="120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0802" y="3001863"/>
            <a:ext cx="5295768" cy="833041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6402922" y="3014563"/>
            <a:ext cx="513364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Software Sensor Simulator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6402922" y="3301305"/>
            <a:ext cx="5133648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Physical transducers are currently replaced by a deterministic simulator that publishes the identical MQTT telemetry schema — same topics, same packet structure, same QoS levels. The downstream pipeline is sensor-hardware-agnostic by design.</a:t>
            </a:r>
            <a:endParaRPr lang="en-US" sz="95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40802" y="3995539"/>
            <a:ext cx="5295768" cy="833041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402922" y="4008239"/>
            <a:ext cx="513364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Interface Compatibility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6402922" y="4294981"/>
            <a:ext cx="5133648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Future hardware sensor integration requires zero modifications to the edge gateway, correlation engine, or application layer. Only the node firmware changes at the physical interface boundary.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8481"/>
            <a:ext cx="10868745" cy="274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Distributed Telemetry Architecture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61475" y="841673"/>
            <a:ext cx="10868745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Multi-Node Data Pipeline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1095474"/>
            <a:ext cx="4772997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Mesh Topology &amp; MQTT Topic Tree</a:t>
            </a:r>
            <a:endParaRPr lang="en-US" sz="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285180"/>
            <a:ext cx="2363133" cy="6001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780" y="1385689"/>
            <a:ext cx="2111322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mine/node/{id}/data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12780" y="1569541"/>
            <a:ext cx="2111322" cy="215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Routine sensor telemetry — all nodes, configurable publish interval</a:t>
            </a:r>
            <a:endParaRPr lang="en-US" sz="6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71240" y="1285180"/>
            <a:ext cx="2363232" cy="60017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22544" y="1385689"/>
            <a:ext cx="2111421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mine/node/{id}/status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3222544" y="1569541"/>
            <a:ext cx="2111421" cy="215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Node health, battery, signal quality, firmware version</a:t>
            </a:r>
            <a:endParaRPr lang="en-US" sz="6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1931988"/>
            <a:ext cx="2363133" cy="60017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2780" y="2032496"/>
            <a:ext cx="2111322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mine/gateway/alert</a:t>
            </a:r>
            <a:endParaRPr lang="en-US" sz="850" dirty="0"/>
          </a:p>
        </p:txBody>
      </p:sp>
      <p:sp>
        <p:nvSpPr>
          <p:cNvPr id="13" name="Text 8"/>
          <p:cNvSpPr/>
          <p:nvPr/>
        </p:nvSpPr>
        <p:spPr>
          <a:xfrm>
            <a:off x="812780" y="2216348"/>
            <a:ext cx="2111322" cy="215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Risk score threshold breach — triggers operator notification pipeline</a:t>
            </a:r>
            <a:endParaRPr lang="en-US" sz="6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71240" y="1931988"/>
            <a:ext cx="2363232" cy="60017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222544" y="2032496"/>
            <a:ext cx="2111421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mine/dashboard/update</a:t>
            </a:r>
            <a:endParaRPr lang="en-US" sz="850" dirty="0"/>
          </a:p>
        </p:txBody>
      </p:sp>
      <p:sp>
        <p:nvSpPr>
          <p:cNvPr id="16" name="Text 10"/>
          <p:cNvSpPr/>
          <p:nvPr/>
        </p:nvSpPr>
        <p:spPr>
          <a:xfrm>
            <a:off x="3222544" y="2216348"/>
            <a:ext cx="2111421" cy="215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GIS map refresh, risk zone overlay, operator dashboard payload</a:t>
            </a:r>
            <a:endParaRPr lang="en-US" sz="650" dirty="0"/>
          </a:p>
        </p:txBody>
      </p:sp>
      <p:sp>
        <p:nvSpPr>
          <p:cNvPr id="17" name="Text 11"/>
          <p:cNvSpPr/>
          <p:nvPr/>
        </p:nvSpPr>
        <p:spPr>
          <a:xfrm>
            <a:off x="661475" y="2584648"/>
            <a:ext cx="4772997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QoS Strategy</a:t>
            </a:r>
            <a:endParaRPr lang="en-US" sz="850" dirty="0"/>
          </a:p>
        </p:txBody>
      </p:sp>
      <p:sp>
        <p:nvSpPr>
          <p:cNvPr id="18" name="Shape 12"/>
          <p:cNvSpPr/>
          <p:nvPr/>
        </p:nvSpPr>
        <p:spPr>
          <a:xfrm>
            <a:off x="661475" y="2774355"/>
            <a:ext cx="4772997" cy="574774"/>
          </a:xfrm>
          <a:prstGeom prst="roundRect">
            <a:avLst>
              <a:gd name="adj" fmla="val 2293"/>
            </a:avLst>
          </a:prstGeom>
          <a:solidFill>
            <a:srgbClr val="E0E0EC"/>
          </a:solidFill>
          <a:ln/>
        </p:spPr>
      </p:sp>
      <p:sp>
        <p:nvSpPr>
          <p:cNvPr id="19" name="Shape 13"/>
          <p:cNvSpPr/>
          <p:nvPr/>
        </p:nvSpPr>
        <p:spPr>
          <a:xfrm>
            <a:off x="661475" y="2774355"/>
            <a:ext cx="2386449" cy="574774"/>
          </a:xfrm>
          <a:custGeom>
            <a:avLst/>
            <a:gdLst/>
            <a:ahLst/>
            <a:cxnLst/>
            <a:rect l="l" t="t" r="r" b="b"/>
            <a:pathLst>
              <a:path w="2386449" h="574774">
                <a:moveTo>
                  <a:pt x="10983" y="0"/>
                </a:moveTo>
                <a:lnTo>
                  <a:pt x="2386449" y="0"/>
                </a:lnTo>
                <a:lnTo>
                  <a:pt x="2386449" y="574774"/>
                </a:lnTo>
                <a:lnTo>
                  <a:pt x="10983" y="574774"/>
                </a:lnTo>
                <a:arcTo hR="10983" wR="10983" stAng="5400000" swAng="5400000"/>
                <a:lnTo>
                  <a:pt x="0" y="10983"/>
                </a:lnTo>
                <a:arcTo hR="10983" wR="10983" stAng="10800000" swAng="5400000"/>
                <a:close/>
              </a:path>
            </a:pathLst>
          </a:custGeom>
          <a:solidFill>
            <a:srgbClr val="E0E0EC"/>
          </a:solidFill>
          <a:ln/>
        </p:spPr>
      </p:sp>
      <p:sp>
        <p:nvSpPr>
          <p:cNvPr id="20" name="Text 14"/>
          <p:cNvSpPr/>
          <p:nvPr/>
        </p:nvSpPr>
        <p:spPr>
          <a:xfrm>
            <a:off x="749281" y="2862163"/>
            <a:ext cx="2210836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QoS 0 — At Most Once</a:t>
            </a:r>
            <a:endParaRPr lang="en-US" sz="850" dirty="0"/>
          </a:p>
        </p:txBody>
      </p:sp>
      <p:sp>
        <p:nvSpPr>
          <p:cNvPr id="21" name="Text 15"/>
          <p:cNvSpPr/>
          <p:nvPr/>
        </p:nvSpPr>
        <p:spPr>
          <a:xfrm>
            <a:off x="749281" y="3046016"/>
            <a:ext cx="2210836" cy="215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Routine telemetry — acceptable data loss on congestion</a:t>
            </a:r>
            <a:endParaRPr lang="en-US" sz="650" dirty="0"/>
          </a:p>
        </p:txBody>
      </p:sp>
      <p:sp>
        <p:nvSpPr>
          <p:cNvPr id="22" name="Shape 16"/>
          <p:cNvSpPr/>
          <p:nvPr/>
        </p:nvSpPr>
        <p:spPr>
          <a:xfrm>
            <a:off x="3047924" y="2774355"/>
            <a:ext cx="2386548" cy="574774"/>
          </a:xfrm>
          <a:custGeom>
            <a:avLst/>
            <a:gdLst/>
            <a:ahLst/>
            <a:cxnLst/>
            <a:rect l="l" t="t" r="r" b="b"/>
            <a:pathLst>
              <a:path w="2386548" h="574774">
                <a:moveTo>
                  <a:pt x="0" y="0"/>
                </a:moveTo>
                <a:lnTo>
                  <a:pt x="2375565" y="0"/>
                </a:lnTo>
                <a:arcTo hR="10983" wR="10983" stAng="16200000" swAng="5400000"/>
                <a:lnTo>
                  <a:pt x="2386548" y="563791"/>
                </a:lnTo>
                <a:arcTo hR="10983" wR="10983" stAng="0" swAng="5400000"/>
                <a:lnTo>
                  <a:pt x="0" y="574774"/>
                </a:lnTo>
                <a:lnTo>
                  <a:pt x="0" y="0"/>
                </a:lnTo>
                <a:close/>
              </a:path>
            </a:pathLst>
          </a:custGeom>
          <a:solidFill>
            <a:srgbClr val="E0E0EC"/>
          </a:solidFill>
          <a:ln/>
        </p:spPr>
      </p:sp>
      <p:sp>
        <p:nvSpPr>
          <p:cNvPr id="23" name="Shape 17"/>
          <p:cNvSpPr/>
          <p:nvPr/>
        </p:nvSpPr>
        <p:spPr>
          <a:xfrm>
            <a:off x="3047924" y="2774355"/>
            <a:ext cx="12700" cy="574774"/>
          </a:xfrm>
          <a:prstGeom prst="roundRect">
            <a:avLst>
              <a:gd name="adj" fmla="val 49999"/>
            </a:avLst>
          </a:prstGeom>
          <a:solidFill>
            <a:srgbClr val="C6C6D2"/>
          </a:solidFill>
          <a:ln/>
        </p:spPr>
      </p:sp>
      <p:sp>
        <p:nvSpPr>
          <p:cNvPr id="24" name="Text 18"/>
          <p:cNvSpPr/>
          <p:nvPr/>
        </p:nvSpPr>
        <p:spPr>
          <a:xfrm>
            <a:off x="3135730" y="2862163"/>
            <a:ext cx="2210935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QoS 1 — At Least Once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3135730" y="3046016"/>
            <a:ext cx="2210935" cy="215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Critical alerts — guaranteed delivery with acknowledgement</a:t>
            </a:r>
            <a:endParaRPr lang="en-US" sz="650" dirty="0"/>
          </a:p>
        </p:txBody>
      </p:sp>
      <p:sp>
        <p:nvSpPr>
          <p:cNvPr id="26" name="Text 20"/>
          <p:cNvSpPr/>
          <p:nvPr/>
        </p:nvSpPr>
        <p:spPr>
          <a:xfrm>
            <a:off x="5655129" y="1095474"/>
            <a:ext cx="5881342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Packet Structure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55129" y="1285180"/>
          <a:ext cx="9143771" cy="914400"/>
        </p:xfrm>
        <a:graphic>
          <a:graphicData uri="http://schemas.openxmlformats.org/drawingml/2006/table">
            <a:tbl>
              <a:tblPr/>
              <a:tblGrid>
                <a:gridCol w="1960447"/>
                <a:gridCol w="1960447"/>
                <a:gridCol w="1960447"/>
              </a:tblGrid>
              <a:tr h="17948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Field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7864" marR="8786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Type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7864" marR="8786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Purpose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7864" marR="8786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1826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node_id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7864" marR="8786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String / UUID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7864" marR="8786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Unique node identity for spatial correlation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7864" marR="8786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1826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timestamp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7864" marR="8786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ISO 8601 UTC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7864" marR="8786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Temporal alignment across mesh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7864" marR="8786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1826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sensor_type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7864" marR="8786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Enum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7864" marR="8786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Tilt / vibration / displacement / crack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7864" marR="8786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1826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value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7864" marR="8786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Float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7864" marR="8786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Calibrated engineering unit reading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7864" marR="8786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1826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unit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7864" marR="8786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String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7864" marR="8786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°, mm/s², mm, boolean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7864" marR="8786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1826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confidence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7864" marR="8786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Float [0–1]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7864" marR="8786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Node self-assessment of reading quality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7864" marR="8786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1826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sequence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7864" marR="8786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Uint32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7864" marR="8786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Gap detection / replay ordering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7864" marR="8786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17948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CRC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7864" marR="8786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Uint16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7864" marR="8786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Packet integrity verification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87864" marR="87864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</a:tbl>
          </a:graphicData>
        </a:graphic>
      </p:graphicFrame>
      <p:sp>
        <p:nvSpPr>
          <p:cNvPr id="28" name="Text 21"/>
          <p:cNvSpPr/>
          <p:nvPr/>
        </p:nvSpPr>
        <p:spPr>
          <a:xfrm>
            <a:off x="5655129" y="2987973"/>
            <a:ext cx="5881342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Offline Behavior</a:t>
            </a:r>
            <a:endParaRPr lang="en-US" sz="85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1691" y="3177679"/>
            <a:ext cx="5188217" cy="307925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612753" y="5418462"/>
            <a:ext cx="1289653" cy="496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Reconnect &amp; Replay</a:t>
            </a:r>
            <a:endParaRPr lang="en-US" sz="1550" dirty="0"/>
          </a:p>
        </p:txBody>
      </p:sp>
      <p:sp>
        <p:nvSpPr>
          <p:cNvPr id="31" name="Text 23"/>
          <p:cNvSpPr/>
          <p:nvPr/>
        </p:nvSpPr>
        <p:spPr>
          <a:xfrm>
            <a:off x="7987437" y="5418462"/>
            <a:ext cx="1289653" cy="496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Edge Inference</a:t>
            </a:r>
            <a:endParaRPr lang="en-US" sz="1550" dirty="0"/>
          </a:p>
        </p:txBody>
      </p:sp>
      <p:sp>
        <p:nvSpPr>
          <p:cNvPr id="32" name="Text 24"/>
          <p:cNvSpPr/>
          <p:nvPr/>
        </p:nvSpPr>
        <p:spPr>
          <a:xfrm>
            <a:off x="6335621" y="5542683"/>
            <a:ext cx="1289653" cy="248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Buffer Locally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4287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Anomaly Detection &amp; Mesh Correlation Engine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909141"/>
            <a:ext cx="1086874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Intelligence in Space + Time, Not Just Thresholds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61475" y="1335385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Detection Pipeline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33736"/>
            <a:ext cx="5283068" cy="297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53502" y="1335385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Correlation Decision Logic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3502" y="1633736"/>
            <a:ext cx="2595001" cy="162212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41021" y="1770459"/>
            <a:ext cx="2270763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Case A — Local Disturbance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441021" y="2057202"/>
            <a:ext cx="2270763" cy="868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High local anomaly score + low neighbor correlation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→ single-node event, likely environmental interference or mechanical vibration. Alert suppressed or downgraded.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41469" y="1633736"/>
            <a:ext cx="2595101" cy="162212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28988" y="1770459"/>
            <a:ext cx="2270862" cy="387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Case B — Genuine Subsidence Indicator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9128988" y="2250976"/>
            <a:ext cx="2270862" cy="868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Similar temporal deformation pattern across multiple neighbor nodes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→ spatially coherent ground movement. Risk score elevated. Operator alert dispatched.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6253502" y="3360440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Risk Scoring Function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439533" y="3742432"/>
            <a:ext cx="5706622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Risk = f(temporal deviation, magnitude, persistence, neighbor correlation)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6253502" y="3658791"/>
            <a:ext cx="12700" cy="340916"/>
          </a:xfrm>
          <a:prstGeom prst="roundRect">
            <a:avLst>
              <a:gd name="adj" fmla="val 49999"/>
            </a:avLst>
          </a:prstGeom>
          <a:solidFill>
            <a:srgbClr val="101014"/>
          </a:solidFill>
          <a:ln/>
        </p:spPr>
      </p:sp>
      <p:sp>
        <p:nvSpPr>
          <p:cNvPr id="16" name="Text 11"/>
          <p:cNvSpPr/>
          <p:nvPr/>
        </p:nvSpPr>
        <p:spPr>
          <a:xfrm>
            <a:off x="6253502" y="4104283"/>
            <a:ext cx="5283068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Score is a weighted composite — a single large spike that is brief and isolated contributes less than a moderate, persistent, spatially-correlated deformation trend. Operator thresholds are configurable per deployment zone.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6253502" y="4718149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Detection Methods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253502" y="5084763"/>
            <a:ext cx="62010" cy="62012"/>
          </a:xfrm>
          <a:prstGeom prst="ellipse">
            <a:avLst/>
          </a:prstGeom>
          <a:solidFill>
            <a:srgbClr val="101014"/>
          </a:solidFill>
          <a:ln/>
        </p:spPr>
      </p:sp>
      <p:sp>
        <p:nvSpPr>
          <p:cNvPr id="19" name="Text 14"/>
          <p:cNvSpPr/>
          <p:nvPr/>
        </p:nvSpPr>
        <p:spPr>
          <a:xfrm>
            <a:off x="6408478" y="5016500"/>
            <a:ext cx="5128092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Statistical drift detection — CUSUM / EWMA on rolling baselines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253502" y="5444430"/>
            <a:ext cx="62010" cy="62012"/>
          </a:xfrm>
          <a:prstGeom prst="ellipse">
            <a:avLst/>
          </a:prstGeom>
          <a:solidFill>
            <a:srgbClr val="101014"/>
          </a:solidFill>
          <a:ln/>
        </p:spPr>
      </p:sp>
      <p:sp>
        <p:nvSpPr>
          <p:cNvPr id="21" name="Text 16"/>
          <p:cNvSpPr/>
          <p:nvPr/>
        </p:nvSpPr>
        <p:spPr>
          <a:xfrm>
            <a:off x="6408478" y="5376168"/>
            <a:ext cx="5128092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Threshold-based alerting — configurable per sensor class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253502" y="5804098"/>
            <a:ext cx="62010" cy="62012"/>
          </a:xfrm>
          <a:prstGeom prst="ellipse">
            <a:avLst/>
          </a:prstGeom>
          <a:solidFill>
            <a:srgbClr val="101014"/>
          </a:solidFill>
          <a:ln/>
        </p:spPr>
      </p:sp>
      <p:sp>
        <p:nvSpPr>
          <p:cNvPr id="23" name="Text 18"/>
          <p:cNvSpPr/>
          <p:nvPr/>
        </p:nvSpPr>
        <p:spPr>
          <a:xfrm>
            <a:off x="6408478" y="5735836"/>
            <a:ext cx="5128092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Lightweight ML anomaly detection — on-device inference, Pi 4 GPU-optional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253502" y="6163766"/>
            <a:ext cx="62010" cy="62012"/>
          </a:xfrm>
          <a:prstGeom prst="ellipse">
            <a:avLst/>
          </a:prstGeom>
          <a:solidFill>
            <a:srgbClr val="101014"/>
          </a:solidFill>
          <a:ln/>
        </p:spPr>
      </p:sp>
      <p:sp>
        <p:nvSpPr>
          <p:cNvPr id="25" name="Text 20"/>
          <p:cNvSpPr/>
          <p:nvPr/>
        </p:nvSpPr>
        <p:spPr>
          <a:xfrm>
            <a:off x="6408478" y="6095504"/>
            <a:ext cx="5128092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Time-series feature analysis — trend, seasonality, rate-of-change decomposition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478"/>
            <a:ext cx="10868745" cy="419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Fault Tolerance, Security &amp; Offline Operation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987028"/>
            <a:ext cx="10868745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Designed to Fail Gracefully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1469827"/>
            <a:ext cx="5270467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Failure Mode Response Matrix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802606"/>
          <a:ext cx="9143771" cy="914400"/>
        </p:xfrm>
        <a:graphic>
          <a:graphicData uri="http://schemas.openxmlformats.org/drawingml/2006/table">
            <a:tbl>
              <a:tblPr/>
              <a:tblGrid>
                <a:gridCol w="2635234"/>
                <a:gridCol w="2635234"/>
              </a:tblGrid>
              <a:tr h="3416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Failure Mode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4380" marR="134380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System Response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4380" marR="134380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734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Sensor failure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4380" marR="134380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Mark node degraded; substitute neighbor-node readings for correlation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4380" marR="134380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5395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Node failure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4380" marR="134380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Mark node offline; mesh routing continues around failed node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4380" marR="134380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734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Network loss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4380" marR="134380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Local buffering activated; edge inference and alerts continue uninterrupted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4380" marR="134380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5395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Gateway failure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4380" marR="134380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Distributed node buffering; local NeoPixel/OLED alerts remain active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4380" marR="134380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7311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Time desync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4380" marR="134380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NTP resync on reconnection; sequence numbers maintain ordering integrity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4380" marR="134380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61475" y="5558631"/>
            <a:ext cx="5270467" cy="653058"/>
          </a:xfrm>
          <a:prstGeom prst="roundRect">
            <a:avLst>
              <a:gd name="adj" fmla="val 3087"/>
            </a:avLst>
          </a:prstGeom>
          <a:solidFill>
            <a:srgbClr val="E3E3E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814" y="5729784"/>
            <a:ext cx="167973" cy="1343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8126" y="5690394"/>
            <a:ext cx="4699478" cy="389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Fail-closed principle:</a:t>
            </a:r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Inability to confirm a safe state generates operator attention — not silence. An unacknowledged alert is treated as a live alert.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266103" y="1469827"/>
            <a:ext cx="5270467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Security Architecture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266103" y="1802606"/>
            <a:ext cx="2580615" cy="1684338"/>
          </a:xfrm>
          <a:prstGeom prst="roundRect">
            <a:avLst>
              <a:gd name="adj" fmla="val 1197"/>
            </a:avLst>
          </a:prstGeom>
          <a:solidFill>
            <a:srgbClr val="E0E0EC"/>
          </a:solidFill>
          <a:ln/>
        </p:spPr>
      </p:sp>
      <p:sp>
        <p:nvSpPr>
          <p:cNvPr id="11" name="Shape 7"/>
          <p:cNvSpPr/>
          <p:nvPr/>
        </p:nvSpPr>
        <p:spPr>
          <a:xfrm>
            <a:off x="6400441" y="1936948"/>
            <a:ext cx="403116" cy="403126"/>
          </a:xfrm>
          <a:prstGeom prst="ellipse">
            <a:avLst/>
          </a:prstGeom>
          <a:solidFill>
            <a:srgbClr val="10101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11266" y="2047776"/>
            <a:ext cx="181367" cy="1813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441" y="2449215"/>
            <a:ext cx="2311937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Node Identity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400441" y="2768302"/>
            <a:ext cx="2311937" cy="58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Unique hardware identity per node — prevents spoofed telemetry injection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8955856" y="1802606"/>
            <a:ext cx="2580714" cy="1684338"/>
          </a:xfrm>
          <a:prstGeom prst="roundRect">
            <a:avLst>
              <a:gd name="adj" fmla="val 1197"/>
            </a:avLst>
          </a:prstGeom>
          <a:solidFill>
            <a:srgbClr val="E0E0EC"/>
          </a:solidFill>
          <a:ln/>
        </p:spPr>
      </p:sp>
      <p:sp>
        <p:nvSpPr>
          <p:cNvPr id="16" name="Shape 11"/>
          <p:cNvSpPr/>
          <p:nvPr/>
        </p:nvSpPr>
        <p:spPr>
          <a:xfrm>
            <a:off x="9090194" y="1936948"/>
            <a:ext cx="403116" cy="403126"/>
          </a:xfrm>
          <a:prstGeom prst="ellipse">
            <a:avLst/>
          </a:prstGeom>
          <a:solidFill>
            <a:srgbClr val="10101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01019" y="2047776"/>
            <a:ext cx="181367" cy="1813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90194" y="2449215"/>
            <a:ext cx="2312037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TLS MQTT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9090194" y="2768302"/>
            <a:ext cx="2312037" cy="58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Transport-layer encryption on all broker connections — no plaintext telemetry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6266103" y="3596084"/>
            <a:ext cx="2580615" cy="1684338"/>
          </a:xfrm>
          <a:prstGeom prst="roundRect">
            <a:avLst>
              <a:gd name="adj" fmla="val 1197"/>
            </a:avLst>
          </a:prstGeom>
          <a:solidFill>
            <a:srgbClr val="E0E0EC"/>
          </a:solidFill>
          <a:ln/>
        </p:spPr>
      </p:sp>
      <p:sp>
        <p:nvSpPr>
          <p:cNvPr id="21" name="Shape 15"/>
          <p:cNvSpPr/>
          <p:nvPr/>
        </p:nvSpPr>
        <p:spPr>
          <a:xfrm>
            <a:off x="6400441" y="3730427"/>
            <a:ext cx="403116" cy="403126"/>
          </a:xfrm>
          <a:prstGeom prst="ellipse">
            <a:avLst/>
          </a:prstGeom>
          <a:solidFill>
            <a:srgbClr val="10101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11266" y="3841254"/>
            <a:ext cx="181367" cy="1813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441" y="4242693"/>
            <a:ext cx="2311937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Integrity Checks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6400441" y="4561780"/>
            <a:ext cx="2311937" cy="58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Sequence counters for gap detection; CRC16 on every packet for corruption detection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8955856" y="3596084"/>
            <a:ext cx="2580714" cy="1684338"/>
          </a:xfrm>
          <a:prstGeom prst="roundRect">
            <a:avLst>
              <a:gd name="adj" fmla="val 1197"/>
            </a:avLst>
          </a:prstGeom>
          <a:solidFill>
            <a:srgbClr val="E0E0EC"/>
          </a:solidFill>
          <a:ln/>
        </p:spPr>
      </p:sp>
      <p:sp>
        <p:nvSpPr>
          <p:cNvPr id="26" name="Shape 19"/>
          <p:cNvSpPr/>
          <p:nvPr/>
        </p:nvSpPr>
        <p:spPr>
          <a:xfrm>
            <a:off x="9090194" y="3730427"/>
            <a:ext cx="403116" cy="403126"/>
          </a:xfrm>
          <a:prstGeom prst="ellipse">
            <a:avLst/>
          </a:prstGeom>
          <a:solidFill>
            <a:srgbClr val="101014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01019" y="3841254"/>
            <a:ext cx="181367" cy="18137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090194" y="4242693"/>
            <a:ext cx="2312037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Signed OTA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9090194" y="4561780"/>
            <a:ext cx="2312037" cy="58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Firmware updates cryptographically signed — prevents unauthorized firmware deployment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2288"/>
            <a:ext cx="10868745" cy="315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Validation, Testing &amp; Prototype Status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61475" y="861814"/>
            <a:ext cx="1086874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Six-Test Validation Framework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111349"/>
            <a:ext cx="10868745" cy="6046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0179" y="1319212"/>
            <a:ext cx="151106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138705" y="1224756"/>
            <a:ext cx="1027811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Stable Baseline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38705" y="1419027"/>
            <a:ext cx="10278111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deformation input — verify zero false alarms over extended observation window. Pass criterion: alert rate = 0 under quiescent conditions.</a:t>
            </a:r>
            <a:endParaRPr lang="en-US" sz="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777405"/>
            <a:ext cx="10868745" cy="60463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0179" y="1985268"/>
            <a:ext cx="151106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2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1138705" y="1890812"/>
            <a:ext cx="1027811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Single-Node Disturbance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1138705" y="2085082"/>
            <a:ext cx="10278111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Inject anomaly at one node — verify local detection without mesh-wide alert escalation. Validates correlation logic Case A.</a:t>
            </a:r>
            <a:endParaRPr lang="en-US" sz="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2443460"/>
            <a:ext cx="10868745" cy="60463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0179" y="2651323"/>
            <a:ext cx="151106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3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1138705" y="2556867"/>
            <a:ext cx="1027811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Multi-Node Deformation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1138705" y="2751138"/>
            <a:ext cx="10278111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Simultaneous deformation across nodes A–D — verify spatial correlation triggers elevated risk score and operator alert. Validates Case B.</a:t>
            </a:r>
            <a:endParaRPr lang="en-US" sz="7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109516"/>
            <a:ext cx="10868745" cy="60463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00179" y="3317379"/>
            <a:ext cx="151106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1138705" y="3222923"/>
            <a:ext cx="1027811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Injected Noise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1138705" y="3417193"/>
            <a:ext cx="10278111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High-amplitude random noise on sensor streams — verify filtering layer suppresses spurious signals before feature extraction.</a:t>
            </a:r>
            <a:endParaRPr lang="en-US" sz="7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3775571"/>
            <a:ext cx="10868745" cy="60463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00179" y="3983434"/>
            <a:ext cx="151106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5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1138705" y="3888978"/>
            <a:ext cx="1027811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Network Disconnect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1138705" y="4083248"/>
            <a:ext cx="10278111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Sever gateway connectivity — verify local buffering, continued edge inference, and correct replay on reconnection.</a:t>
            </a:r>
            <a:endParaRPr lang="en-US" sz="7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1475" y="4441627"/>
            <a:ext cx="10868745" cy="604639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00179" y="4649490"/>
            <a:ext cx="151106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6</a:t>
            </a:r>
            <a:endParaRPr lang="en-US" sz="1150" dirty="0"/>
          </a:p>
        </p:txBody>
      </p:sp>
      <p:sp>
        <p:nvSpPr>
          <p:cNvPr id="26" name="Text 18"/>
          <p:cNvSpPr/>
          <p:nvPr/>
        </p:nvSpPr>
        <p:spPr>
          <a:xfrm>
            <a:off x="1138705" y="4555034"/>
            <a:ext cx="1027811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Node Failure</a:t>
            </a:r>
            <a:endParaRPr lang="en-US" sz="950" dirty="0"/>
          </a:p>
        </p:txBody>
      </p:sp>
      <p:sp>
        <p:nvSpPr>
          <p:cNvPr id="27" name="Text 19"/>
          <p:cNvSpPr/>
          <p:nvPr/>
        </p:nvSpPr>
        <p:spPr>
          <a:xfrm>
            <a:off x="1138705" y="4749304"/>
            <a:ext cx="10278111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Power-off individual nodes — verify mesh routing adapts, degraded node is marked, and correlation continues on remaining nodes.</a:t>
            </a:r>
            <a:endParaRPr lang="en-US" sz="750" dirty="0"/>
          </a:p>
        </p:txBody>
      </p:sp>
      <p:sp>
        <p:nvSpPr>
          <p:cNvPr id="28" name="Text 20"/>
          <p:cNvSpPr/>
          <p:nvPr/>
        </p:nvSpPr>
        <p:spPr>
          <a:xfrm>
            <a:off x="661475" y="5176738"/>
            <a:ext cx="531144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Physical Validation Approach</a:t>
            </a:r>
            <a:endParaRPr lang="en-US" sz="950" dirty="0"/>
          </a:p>
        </p:txBody>
      </p:sp>
      <p:sp>
        <p:nvSpPr>
          <p:cNvPr id="29" name="Text 21"/>
          <p:cNvSpPr/>
          <p:nvPr/>
        </p:nvSpPr>
        <p:spPr>
          <a:xfrm>
            <a:off x="661475" y="5395615"/>
            <a:ext cx="5311444" cy="259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Scale-model ground rig with mechanically actuated deformation — simulated sensor streams injected at calibrated displacement magnitudes. Validates detection pipeline end-to-end.</a:t>
            </a:r>
            <a:endParaRPr lang="en-US" sz="750" dirty="0"/>
          </a:p>
        </p:txBody>
      </p:sp>
      <p:sp>
        <p:nvSpPr>
          <p:cNvPr id="30" name="Text 22"/>
          <p:cNvSpPr/>
          <p:nvPr/>
        </p:nvSpPr>
        <p:spPr>
          <a:xfrm>
            <a:off x="6225126" y="5176738"/>
            <a:ext cx="531144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Case-Study Validation Approach</a:t>
            </a:r>
            <a:endParaRPr lang="en-US" sz="950" dirty="0"/>
          </a:p>
        </p:txBody>
      </p:sp>
      <p:sp>
        <p:nvSpPr>
          <p:cNvPr id="31" name="Text 23"/>
          <p:cNvSpPr/>
          <p:nvPr/>
        </p:nvSpPr>
        <p:spPr>
          <a:xfrm>
            <a:off x="6225126" y="5395615"/>
            <a:ext cx="5311444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Public subsidence event data and InSAR satellite deformation datasets used to verify that the correlation and risk-scoring engine would have flagged known events. No accuracy numbers fabricated — validation framework is the deliverable.</a:t>
            </a:r>
            <a:endParaRPr lang="en-US" sz="750" dirty="0"/>
          </a:p>
        </p:txBody>
      </p:sp>
      <p:sp>
        <p:nvSpPr>
          <p:cNvPr id="32" name="Shape 24"/>
          <p:cNvSpPr/>
          <p:nvPr/>
        </p:nvSpPr>
        <p:spPr>
          <a:xfrm>
            <a:off x="661475" y="5909270"/>
            <a:ext cx="10868745" cy="426442"/>
          </a:xfrm>
          <a:prstGeom prst="roundRect">
            <a:avLst>
              <a:gd name="adj" fmla="val 3545"/>
            </a:avLst>
          </a:prstGeom>
          <a:solidFill>
            <a:srgbClr val="E3E3E8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179" y="5996484"/>
            <a:ext cx="125905" cy="100707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88789" y="5995789"/>
            <a:ext cx="10440726" cy="259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Prototype transparency:</a:t>
            </a:r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REAL — compute, network, MQTT, edge inference, correlation engine, GIS dashboard, alert pipeline, SSD storage. SIMULATED — physical subsidence transducers (identical telemetry interface to future hardware).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3854"/>
            <a:ext cx="10868745" cy="427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Deployment Roadmap &amp; Technical Differentiation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661475" y="1225252"/>
            <a:ext cx="4707117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Prototype → Pilot → Scale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98393" y="1772245"/>
            <a:ext cx="136918" cy="796230"/>
          </a:xfrm>
          <a:prstGeom prst="roundRect">
            <a:avLst>
              <a:gd name="adj" fmla="val 15005"/>
            </a:avLst>
          </a:prstGeom>
          <a:solidFill>
            <a:srgbClr val="E0E0EC"/>
          </a:solidFill>
          <a:ln/>
        </p:spPr>
      </p:sp>
      <p:sp>
        <p:nvSpPr>
          <p:cNvPr id="5" name="Text 3"/>
          <p:cNvSpPr/>
          <p:nvPr/>
        </p:nvSpPr>
        <p:spPr>
          <a:xfrm>
            <a:off x="1185734" y="1703784"/>
            <a:ext cx="4182859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Prototype — 3–4 Nodes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5734" y="2031206"/>
            <a:ext cx="4182859" cy="400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ESP32 + Wi-Fi/Ethernet in lab environment. Full stack validated on ULTRON hardware. Sensor simulator in place.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3771" y="2887365"/>
            <a:ext cx="136918" cy="996454"/>
          </a:xfrm>
          <a:prstGeom prst="roundRect">
            <a:avLst>
              <a:gd name="adj" fmla="val 15005"/>
            </a:avLst>
          </a:prstGeom>
          <a:solidFill>
            <a:srgbClr val="E0E0EC"/>
          </a:solidFill>
          <a:ln/>
        </p:spPr>
      </p:sp>
      <p:sp>
        <p:nvSpPr>
          <p:cNvPr id="8" name="Text 6"/>
          <p:cNvSpPr/>
          <p:nvPr/>
        </p:nvSpPr>
        <p:spPr>
          <a:xfrm>
            <a:off x="1391111" y="2818904"/>
            <a:ext cx="3977481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Pilot — 20–50 Nodes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91111" y="3146326"/>
            <a:ext cx="3977481" cy="600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LoRa/Zigbee mesh + ruggedized weatherproof enclosures deployed at mine site perimeter. Hardware transducers integrated.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209248" y="4202708"/>
            <a:ext cx="136918" cy="996454"/>
          </a:xfrm>
          <a:prstGeom prst="roundRect">
            <a:avLst>
              <a:gd name="adj" fmla="val 15005"/>
            </a:avLst>
          </a:prstGeom>
          <a:solidFill>
            <a:srgbClr val="E0E0EC"/>
          </a:solidFill>
          <a:ln/>
        </p:spPr>
      </p:sp>
      <p:sp>
        <p:nvSpPr>
          <p:cNvPr id="11" name="Text 9"/>
          <p:cNvSpPr/>
          <p:nvPr/>
        </p:nvSpPr>
        <p:spPr>
          <a:xfrm>
            <a:off x="1596588" y="4134247"/>
            <a:ext cx="3772004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Scale — 100–1000+ Nodes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96588" y="4461669"/>
            <a:ext cx="3772004" cy="600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Distributed gateway cluster, multi-site synchronization, hierarchical MQTT broker federation, centralized GIS aggregation.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709102" y="1225252"/>
            <a:ext cx="5827368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vs. Conventional Mine Monitoring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09102" y="1566863"/>
          <a:ext cx="9143771" cy="914400"/>
        </p:xfrm>
        <a:graphic>
          <a:graphicData uri="http://schemas.openxmlformats.org/drawingml/2006/table">
            <a:tbl>
              <a:tblPr/>
              <a:tblGrid>
                <a:gridCol w="1942456"/>
                <a:gridCol w="1942456"/>
                <a:gridCol w="1942456"/>
              </a:tblGrid>
              <a:tr h="3520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Dimension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6965" marR="136965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Conventional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6965" marR="136965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This System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6965" marR="136965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355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Sampling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6965" marR="136965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Periodic survey cycles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6965" marR="136965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Continuous real-time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6965" marR="136965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5554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Coverage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6965" marR="136965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Discrete survey points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6965" marR="136965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Distributed mesh topology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6965" marR="136965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355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Processing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6965" marR="136965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Central / manual analysis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6965" marR="136965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On-device edge inference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6965" marR="136965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5554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Connectivity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6965" marR="136965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Requires network access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6965" marR="136965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Offline-first, sync on reconnect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6965" marR="136965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5554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False Positives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6965" marR="136965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Single-point thresholds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6965" marR="136965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Multi-node spatial correlation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6965" marR="136965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355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Alerting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6965" marR="136965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Post-survey reporting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6965" marR="136965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Local + remote, real-time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6965" marR="136965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  <a:tr h="3520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Scalability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6965" marR="136965" marT="6350" marB="6350" anchor="ctr">
                    <a:lnL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Linear survey cost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6965" marR="136965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939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Modular node addition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6965" marR="136965" marT="6350" marB="6350" anchor="ctr">
                    <a:lnL w="12700" cap="flat" cmpd="sng" algn="ctr">
                      <a:solidFill>
                        <a:srgbClr val="F3F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7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709102" y="5143103"/>
            <a:ext cx="5827368" cy="1073348"/>
          </a:xfrm>
          <a:prstGeom prst="roundRect">
            <a:avLst>
              <a:gd name="adj" fmla="val 1914"/>
            </a:avLst>
          </a:prstGeom>
          <a:solidFill>
            <a:srgbClr val="E3E3E8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6021" y="5323284"/>
            <a:ext cx="171148" cy="13692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154087" y="5279330"/>
            <a:ext cx="5245465" cy="800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Scope boundary:</a:t>
            </a:r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distributed, edge-intelligent, offline-capable deformation monitoring layer operating between conventional survey cycles. Decision-support early indicator — not a DGMS-certified structural-safety instrument and not a guaranteed cave-in predictor.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61475" y="1682353"/>
            <a:ext cx="410855" cy="410865"/>
          </a:xfrm>
          <a:prstGeom prst="ellipse">
            <a:avLst/>
          </a:prstGeom>
          <a:solidFill>
            <a:srgbClr val="E0E0EC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164" y="1785144"/>
            <a:ext cx="205378" cy="205383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66853" y="2797473"/>
            <a:ext cx="410855" cy="410865"/>
          </a:xfrm>
          <a:prstGeom prst="ellipse">
            <a:avLst/>
          </a:prstGeom>
          <a:solidFill>
            <a:srgbClr val="E0E0EC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541" y="2900263"/>
            <a:ext cx="205378" cy="205383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1072329" y="4112816"/>
            <a:ext cx="410855" cy="410865"/>
          </a:xfrm>
          <a:prstGeom prst="ellipse">
            <a:avLst/>
          </a:prstGeom>
          <a:solidFill>
            <a:srgbClr val="E0E0EC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75018" y="4215606"/>
            <a:ext cx="205378" cy="2053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2026-09-06T15:45:15Z</dcterms:created>
  <dcterms:modified xsi:type="dcterms:W3CDTF">2026-09-06T15:45:15Z</dcterms:modified>
</cp:coreProperties>
</file>